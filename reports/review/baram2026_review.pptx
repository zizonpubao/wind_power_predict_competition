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4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5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954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B3954"/>
                </a:solidFill>
                <a:latin typeface="Malgun Gothic"/>
              </a:rPr>
              <a:t>적격 시간대의 정산 구간 분포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≤6% (4원)</c:v>
                </c:pt>
              </c:strCache>
            </c:strRef>
          </c:tx>
          <c:spPr>
            <a:solidFill>
              <a:srgbClr val="2FA3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group 1</c:v>
                  </c:pt>
                  <c:pt idx="1">
                    <c:v>group 2</c:v>
                  </c:pt>
                  <c:pt idx="2">
                    <c:v>group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27.66</c:v>
                </c:pt>
                <c:pt idx="1">
                  <c:v>29.02</c:v>
                </c:pt>
                <c:pt idx="2">
                  <c:v>26.74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6~8% (3원)</c:v>
                </c:pt>
              </c:strCache>
            </c:strRef>
          </c:tx>
          <c:spPr>
            <a:solidFill>
              <a:srgbClr val="E8B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group 1</c:v>
                  </c:pt>
                  <c:pt idx="1">
                    <c:v>group 2</c:v>
                  </c:pt>
                  <c:pt idx="2">
                    <c:v>group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8.88</c:v>
                </c:pt>
                <c:pt idx="1">
                  <c:v>9.43</c:v>
                </c:pt>
                <c:pt idx="2">
                  <c:v>8.08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&gt;8% (0원)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group 1</c:v>
                  </c:pt>
                  <c:pt idx="1">
                    <c:v>group 2</c:v>
                  </c:pt>
                  <c:pt idx="2">
                    <c:v>group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63.46</c:v>
                </c:pt>
                <c:pt idx="1">
                  <c:v>61.54</c:v>
                </c:pt>
                <c:pt idx="2">
                  <c:v>65.18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954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B3954"/>
                </a:solidFill>
                <a:latin typeface="Malgun Gothic"/>
              </a:rPr>
              <a:t>채택 경로만 이은 리더보드 점수 (기각 시도 제외)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리더보드 총점</c:v>
                </c:pt>
              </c:strCache>
            </c:strRef>
          </c:tx>
          <c:spPr>
            <a:solidFill>
              <a:srgbClr val="1F7A8C"/>
            </a:solidFill>
            <a:ln w="31750" cap="flat">
              <a:solidFill>
                <a:srgbClr val="1F7A8C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B3954"/>
                    </a:solidFill>
                    <a:latin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7A8C"/>
              </a:solidFill>
              <a:ln w="9525" cap="flat">
                <a:solidFill>
                  <a:srgbClr val="1F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07-22
기준 LGBM</c:v>
                  </c:pt>
                  <c:pt idx="1">
                    <c:v>07-23
분위수+결정</c:v>
                  </c:pt>
                  <c:pt idx="2">
                    <c:v>07-23
3-way 블렌드</c:v>
                  </c:pt>
                  <c:pt idx="3">
                    <c:v>07-24
half 재보정</c:v>
                  </c:pt>
                  <c:pt idx="4">
                    <c:v>08-07
ECMWF g1</c:v>
                  </c:pt>
                  <c:pt idx="5">
                    <c:v>08-11
ECMWF 전그룹</c:v>
                  </c:pt>
                  <c:pt idx="6">
                    <c:v>08-12
GBM w=0.35</c:v>
                  </c:pt>
                  <c:pt idx="7">
                    <c:v>08-13
강도 0.45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0.6091</c:v>
                </c:pt>
                <c:pt idx="1">
                  <c:v>0.6126</c:v>
                </c:pt>
                <c:pt idx="2">
                  <c:v>0.6227</c:v>
                </c:pt>
                <c:pt idx="3">
                  <c:v>0.628</c:v>
                </c:pt>
                <c:pt idx="4">
                  <c:v>0.6302</c:v>
                </c:pt>
                <c:pt idx="5">
                  <c:v>0.633</c:v>
                </c:pt>
                <c:pt idx="6">
                  <c:v>0.63325</c:v>
                </c:pt>
                <c:pt idx="7">
                  <c:v>0.6333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0" i="0" strike="noStrike" sz="950" u="none">
                  <a:solidFill>
                    <a:srgbClr val="0B3954"/>
                  </a:solidFill>
                  <a:latin typeface="Malgun Gothi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36"/>
          <c:min val="0.605"/>
        </c:scaling>
        <c:delete val="0"/>
        <c:axPos val="l"/>
        <c:majorGridlines>
          <c:spPr>
            <a:ln w="6350" cap="flat">
              <a:solidFill>
                <a:srgbClr val="E3EBF0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954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B3954"/>
                </a:solidFill>
                <a:latin typeface="Malgun Gothic"/>
              </a:rPr>
              <a:t>풍속-발전량 상관계수 (train 전체)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LDAPS (16격자, ~1.5km)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395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group 1</c:v>
                  </c:pt>
                  <c:pt idx="1">
                    <c:v>group 2</c:v>
                  </c:pt>
                  <c:pt idx="2">
                    <c:v>group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</c:v>
                </c:pt>
                <c:pt idx="1">
                  <c:v>0.74</c:v>
                </c:pt>
                <c:pt idx="2">
                  <c:v>0.734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GFS (9격자, 0.25° ≈ 28km)</c:v>
                </c:pt>
              </c:strCache>
            </c:strRef>
          </c:tx>
          <c:spPr>
            <a:solidFill>
              <a:srgbClr val="9DB8C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395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group 1</c:v>
                  </c:pt>
                  <c:pt idx="1">
                    <c:v>group 2</c:v>
                  </c:pt>
                  <c:pt idx="2">
                    <c:v>group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0.539</c:v>
                </c:pt>
                <c:pt idx="1">
                  <c:v>0.549</c:v>
                </c:pt>
                <c:pt idx="2">
                  <c:v>0.545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B3954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3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954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B3954"/>
                </a:solidFill>
                <a:latin typeface="Malgun Gothic"/>
              </a:rPr>
              <a:t>재보정 강도별 리더보드 (07월 베이스)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리더보드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395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0.0
(무보정)</c:v>
                  </c:pt>
                  <c:pt idx="1">
                    <c:v>0.5
(half)</c:v>
                  </c:pt>
                  <c:pt idx="2">
                    <c:v>0.6</c:v>
                  </c:pt>
                  <c:pt idx="3">
                    <c:v>1.0
(full)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0.6227</c:v>
                </c:pt>
                <c:pt idx="1">
                  <c:v>0.628</c:v>
                </c:pt>
                <c:pt idx="2">
                  <c:v>0.6266</c:v>
                </c:pt>
                <c:pt idx="3">
                  <c:v>0.6205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B3954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32"/>
          <c:min val="0.615"/>
        </c:scaling>
        <c:delete val="0"/>
        <c:axPos val="l"/>
        <c:majorGridlines>
          <c:spPr>
            <a:ln w="6350" cap="flat">
              <a:solidFill>
                <a:srgbClr val="E3EBF0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954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B3954"/>
                </a:solidFill>
                <a:latin typeface="Malgun Gothic"/>
              </a:rPr>
              <a:t>리더보드 여정 — 위: 채택 / 아래: 같은 날 기각된 시도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채택 경로</c:v>
                </c:pt>
              </c:strCache>
            </c:strRef>
          </c:tx>
          <c:spPr>
            <a:solidFill>
              <a:srgbClr val="1F7A8C"/>
            </a:solidFill>
            <a:ln w="31750" cap="flat">
              <a:solidFill>
                <a:srgbClr val="1F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A8C"/>
              </a:solidFill>
              <a:ln w="9525" cap="flat">
                <a:solidFill>
                  <a:srgbClr val="1F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07-22</c:v>
                  </c:pt>
                  <c:pt idx="1">
                    <c:v>07-23a</c:v>
                  </c:pt>
                  <c:pt idx="2">
                    <c:v>07-23b</c:v>
                  </c:pt>
                  <c:pt idx="3">
                    <c:v>07-24</c:v>
                  </c:pt>
                  <c:pt idx="4">
                    <c:v>08-07</c:v>
                  </c:pt>
                  <c:pt idx="5">
                    <c:v>08-11</c:v>
                  </c:pt>
                  <c:pt idx="6">
                    <c:v>08-12</c:v>
                  </c:pt>
                  <c:pt idx="7">
                    <c:v>08-13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0.6091</c:v>
                </c:pt>
                <c:pt idx="1">
                  <c:v>0.6126</c:v>
                </c:pt>
                <c:pt idx="2">
                  <c:v>0.6227</c:v>
                </c:pt>
                <c:pt idx="3">
                  <c:v>0.628</c:v>
                </c:pt>
                <c:pt idx="4">
                  <c:v>0.6302</c:v>
                </c:pt>
                <c:pt idx="5">
                  <c:v>0.633</c:v>
                </c:pt>
                <c:pt idx="6">
                  <c:v>0.63325</c:v>
                </c:pt>
                <c:pt idx="7">
                  <c:v>0.6333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기각된 프로브 (같은 날 최저)</c:v>
                </c:pt>
              </c:strCache>
            </c:strRef>
          </c:tx>
          <c:spPr>
            <a:solidFill>
              <a:srgbClr val="C0504D"/>
            </a:solidFill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07-22</c:v>
                  </c:pt>
                  <c:pt idx="1">
                    <c:v>07-23a</c:v>
                  </c:pt>
                  <c:pt idx="2">
                    <c:v>07-23b</c:v>
                  </c:pt>
                  <c:pt idx="3">
                    <c:v>07-24</c:v>
                  </c:pt>
                  <c:pt idx="4">
                    <c:v>08-07</c:v>
                  </c:pt>
                  <c:pt idx="5">
                    <c:v>08-11</c:v>
                  </c:pt>
                  <c:pt idx="6">
                    <c:v>08-12</c:v>
                  </c:pt>
                  <c:pt idx="7">
                    <c:v>08-13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>0.6172</c:v>
                </c:pt>
                <c:pt idx="3">
                  <c:v>0.6205</c:v>
                </c:pt>
                <c:pt idx="4">
                  <c:v>0.6252</c:v>
                </c:pt>
                <c:pt idx="5">
                  <c:v>0.6295</c:v>
                </c:pt>
                <c:pt idx="6">
                  <c:v>0.63065</c:v>
                </c:pt>
                <c:pt idx="7">
                  <c:v>0.631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36"/>
          <c:min val="0.605"/>
        </c:scaling>
        <c:delete val="0"/>
        <c:axPos val="l"/>
        <c:majorGridlines>
          <c:spPr>
            <a:ln w="6350" cap="flat">
              <a:solidFill>
                <a:srgbClr val="E3EBF0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BARAM 2026  풍력발전량 예측 AI 경진대회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 과정 심화 복기 노트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→ 피처 → 검증 → 분위수 모델 → 결정최적화 → 앙상블 → 리더보드 프로브까지,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성공과 실패를 똑같은 비중으로 정리한 자습용 학습 자료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0"/>
            <a:ext cx="30175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0.6091 → 0.6333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2688" y="5196535"/>
            <a:ext cx="298094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 점수 여정 (총 +0.0242)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448056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4572000"/>
            <a:ext cx="30175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33회 제출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15968" y="5196535"/>
            <a:ext cx="298094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실전 실험 33회 — 마감일 8/14 최종 배치 5건 포함 (하루 5제출 프로브 체제)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89520" y="448056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4572000"/>
            <a:ext cx="30175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2026.07~08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699248" y="5196535"/>
            <a:ext cx="298094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기간 약 6주 · 3개 풍력단지 8,760시간 예측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— 8개 챕터, 4개 심화 주제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783080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4168" y="161848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대회와 문제 정의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44168" y="19476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0.5×(1-NMAE) + 0.5×FICR — 계단식 지표가 전략 전체를 지배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" y="3008376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3008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4168" y="284378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EDA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44168" y="317296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long format, SCADA의 함정(sum vs mean), LDAPS 0.73 vs GFS 0.54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59352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4233672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4168" y="40690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[심화 1] 시계열 CV와 리키지 방지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4168" y="439826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발표묶음 단위 분할, 외부 NWP의 리키지 산술(previous_day2)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184648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5458968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5458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4168" y="529437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[심화 2] 피처 엔지니어링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44168" y="56235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IDW 격자집계, v³ 파워커브, QM 보정, 다중 NWP 11피처 템플릿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1508760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55664" y="1783080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50608" y="161848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[심화 3] 분위수 GBM + 결정최적화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50608" y="19476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pinball loss, 분포→pmf→기대효용 최대화 (+0.0035 실전)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2734056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55664" y="3008376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3008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50608" y="284378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[심화 4] CV vs 리더보드 괴리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50608" y="317296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부분커버리지의 함정, ECMWF 역전 사건, 프로브 운영 프로토콜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3959352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5664" y="4233672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50608" y="40690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앙상블과 재보정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50608" y="439826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블렌드, 배수 재보정(half), 재학습 없는 스왑 산술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5184648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55664" y="5458968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5458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50608" y="529437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결과와 교훈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150608" y="56235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타임라인, 실패 목록, ML 일반론으로의 승화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대회와 문제 정의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어떤 잣대로 평가받으며 예측하는가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KPX 풍력단지 그룹의 시간당 발전량(kWh) 예측 — 2025년 1년치 8,760시간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점수 = 0.5 × (1-NMAE) + 0.5 × FICR. 두 지표 모두 실제 발전량 ≥ 설비용량 10%인 시간만 채점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FICR은 6% / 8% 문턱의 계단식(불연속) 지표 — 이 구조 하나가 이후 모든 모델링 선택을 결정했다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1. 대회와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개요 — 하루 전 예보로 다음날 24시간 발전량을 맞힌다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대회와 문제 정의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대상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kpx_group_1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(VESTAS 1~6호기, 21.6MW),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kpx_group_2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(VESTAS 7~12호기, 21.6MW),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kpx_group_3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(UNISON 1~5호기, 21.0MW)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기간: 2025-01-01 01:00 ~ 2026-01-01 00:00 — 8,760행 × 3그룹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KPX 재생에너지 발전량예측제도(하루 전 24시간 예측 제출, 오차율별 정산금)를 그대로 본뜬 문제 설정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96849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334256"/>
            <a:ext cx="5212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NWP(수치예보모델)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물리 방정식으로 미래 대기를 계산하는 기상 예보 모델. 아래 둘 다 NWP다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LDAPS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(기상청 국지예보, 16격자 ~1.5km) — 주 피처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GFS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(미국 NCEP 전지구예보, 9격자 0.25°≈28km) — 보조 피처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(터빈별 10분 실측) —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C050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기간엔 없음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직접 입력 불가, 파이프라인 설계 보조용만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후반: 외부 NWP 4종(ECMWF/ICON/GEM/JMA)을 리키지-세이프 방식으로 백필해 추가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 최대 5회 제출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후반부엔 이 5회를 '실험 장비'로 사용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40% 실시간 / Private 60% 최종 — 미세 우위는 Private에서 뒤집힐 수 있음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실행 모델만 허용 (원격 LLM API로 예측값 산출 금지)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840480"/>
            <a:ext cx="544068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39684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제약이 만든 전략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334256"/>
            <a:ext cx="5074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GPU 미검출 → CPU 친화적 gradient boosting(LightGBM) 중심 전략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 conda 삭제·torch 부재 → 신경망 재학습 불가 → 기존 제출 CSV의 산술 조작(스왑/스케일)으로 프로브 생산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제약이 오히려 '재학습 없는 실험 설계'라는 기법을 낳았다 (Ch.7 스왑 산술)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1. 대회와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산식 — 절반은 매끄럽고(NMAE), 절반은 계단(FICR)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대회와 문제 정의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00" cy="3017520"/>
          </a:xfrm>
          <a:prstGeom prst="roundRect">
            <a:avLst>
              <a:gd name="adj" fmla="val 2121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60350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src/evaluation/metrics.py :: competition_score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0.5 * (1 - NMAE) + 0.5 * FICR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그룹별 NMAE (시간 평균, 매끄러운 지표)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NMAE = mean( |pred_h - actual_h| / capacity_g 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1-NMAE = 1 - mean(3개 그룹 NMAE)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채점 대상: actual_h &gt;= 0.10 * capacity_g 인 시간만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capacity: g1/g2 = 21,600 kWh, g3 = 21,000 kWh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4617720"/>
            <a:ext cx="6400800" cy="1600200"/>
          </a:xfrm>
          <a:prstGeom prst="roundRect">
            <a:avLst>
              <a:gd name="adj" fmla="val 40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7457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수식이 말하는 건 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111496"/>
            <a:ext cx="6035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"시간당 빗나간 kWh를 설비용량으로 나눠 %로 만들고, 그 평균이 작을수록 점수"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MAE를 용량으로 정규화한 것. 오차를 줄이는 만큼 선형으로 계속 보상되는 매끄러운 지표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1417320"/>
            <a:ext cx="4617720" cy="4800600"/>
          </a:xfrm>
          <a:prstGeom prst="roundRect">
            <a:avLst>
              <a:gd name="adj" fmla="val 138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9480" y="15453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지표를 '직접 구현'했나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1911096"/>
            <a:ext cx="4251960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src/evaluation/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공식 산식을 정확히 구현하고 모든 실험을 이 잣대로 비교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DACON이 산식을 완전 공개하지 않아 domain-researcher가 KPX 실제 제도(2021.10 시행)까지 조사 → 6%/8% 구간·4원/3원 단가를 대회 페이지 스크린샷으로 확정 (reports/domain_research/ficr_formula.md)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지표의 정확한 정의를 확보하는 것이 모델링보다 먼저다. 잘못된 잣대로 최적화하면 전부 헛수고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 사항('이론상 최대 정산금'의 분모 정의 등)은 가정을 주석으로 명시하고 진행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1. 대회와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 — 시간대별 오차율이 문턱을 넘느냐로 정산금이 계단식으로 결정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대회와 문제 정의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오차율 nmae_h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단가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6% 이하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4원/kWh (최고 단가)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6% 초과 ~ 8% 이하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3원/kWh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8% 초과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 — 정산금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291840"/>
            <a:ext cx="5120640" cy="2834640"/>
          </a:xfrm>
          <a:prstGeom prst="roundRect">
            <a:avLst>
              <a:gd name="adj" fmla="val 2258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401568"/>
            <a:ext cx="4754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매 시간 h (actual &gt;= 10% capacity 만):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nmae_h = |pred_h - actual_h| / capacity_g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rate_h = 4 if nmae_h &lt;= 0.06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3 if nmae_h &lt;= 0.08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0 otherwise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획득_h  = rate_h * actual_h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최대_h  = 4 * actual_h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FICR_g  = sum(획득_h) / sum(최대_h)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FICR    = mean(FICR_g1, FICR_g2, FICR_g3)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0" y="1463040"/>
            <a:ext cx="585216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159105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'계단식(불연속)'이라는 게 왜 중요한가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1956816"/>
            <a:ext cx="54864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3%→5%로 나빠져도 단가는 그대로 4원 — 하지만 5.9%→6.1%면 4원→3원, 7.9%→8.1%면 3원→0원으로 뚝 떨어짐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'평균 오차를 줄이는 것'과 'FICR을 버는 것'은 다른 목표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문턱 안쪽에 확실히 넣는 예측이 돈이 됨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가중치가 0.5로 절반 — 이 지표를 못 챙기면 NMAE를 아무리 깎아도 총점이 안 오름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52160" y="4023360"/>
            <a:ext cx="5852160" cy="2103120"/>
          </a:xfrm>
          <a:prstGeom prst="roundRect">
            <a:avLst>
              <a:gd name="adj" fmla="val 304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4151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구조가 결정한 프로젝트의 3가지 선택 (예고)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35040" y="4517136"/>
            <a:ext cx="5486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분위수 회귀(quantile regression)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점 하나가 아니라 분포를 예측 (Ch.5)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기대효용 최대화 후처리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분포에서 '문턱을 넘길 확률'까지 계산해 점을 고름 (+0.0035 실전)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스무딩(평균) 경계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예측을 뭉개면 문턱 밖으로 새는 시간이 늘어 FICR 붕괴 (Ch.6 top3avg 사건, -0.0022)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1. 대회와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 진단 — 적격 시간의 약 62~65%가 정산금 0원이었다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대회와 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LightGBM(0.6091) 시점의 OOF 진단 (reports/eda/ficr_gap_diagnosis.md). OOF(out-of-fold) = CV 각 폴드가 학습에 안 쓴 검증 구간에 낸 예측을 이어붙인 '모의 실전 예측'. 1-NMAE 0.857로 '평균'은 괜찮은데 FICR이 0.294에 그친 이유를 분해했다.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87452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87452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200253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미스는 '아슬아슬'이 아니라 '한참'이었다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37960" y="2368296"/>
            <a:ext cx="4983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 구간의 오차율 중앙값 = 17~19%p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8% 문턱을 살짝 넘긴 게 아니라 두 배 이상 벗어남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8~10% '근접 밴드'는 0원 구간의 12~14%뿐 → 경계 미세조정만으론 FICR 회복 불가 (그 상한도 +0.05~0.08)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진짜 오차 축소 + 계단 구조를 아는 결정이 함께 필요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434340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447141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구체적인 병인: 체계적 과소예측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37960" y="4837176"/>
            <a:ext cx="4983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적격 시간의 62~66%에서 pred &lt; actual, 평균 부호오차 g1 −1,246 / g2 −721 / g3 −1,207 kWh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고발전 시간일수록 심함 — GBM의 평균 회귀(regression to the mean) + 강한 정규화의 부작용 → Ch.7 배수 재보정의 근거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1. 대회와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여정 미리보기 — 채택된 개선의 계단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대회와 문제 정의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1732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417320"/>
            <a:ext cx="3474720" cy="4663440"/>
          </a:xfrm>
          <a:prstGeom prst="roundRect">
            <a:avLst>
              <a:gd name="adj" fmla="val 184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0" y="1545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0" y="1911096"/>
            <a:ext cx="3108960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곡선 뒤에는 기각된 시도 10여 개가 있다 (q19, 월별 재보정, ICON, top3avg, NN-ECMWF 주입…)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도약 4개: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분위수+결정최적화 +0.0035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3-way 블렌드 +0.0055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half 재보정 +0.0053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ECMWF +0.0022/+0.0028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후반부 개선은 +0.0001 단위 — 하루 5제출을 실험 장비로 쓰는 프로브 체제로 캐냈다 (Ch.6)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EDA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모델링 전에 데이터의 '함정'부터 전수 조사했다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long format과 두 개의 시각 컬럼 — 발표묶음이라는 핵심 개념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SCADA의 함정: 평균으로 집계하면 상관 0.00, 합산하면 0.95~0.97 — 컬럼명을 믿지 말 것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LDAPS(1.5km) 상관 0.73 vs GFS(28km) 0.54 — 해상도가 그대로 예측력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데이터 리키지 0건 — 위험은 전적으로 우리가 만드는 분할기에 있다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2. 데이터와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— 격자 long format과 '두 개의 시각'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데이터와 EDA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7607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463040"/>
                <a:gridCol w="2148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train_labels.csv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26,304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2022~2024 시간당 발전량 (그룹별)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ldaps_train.csv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420,864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16격자 × 26,304시간 (long)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gfs_train.csv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236,736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9격자 × 26,304시간 (long)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scada_vestas/unison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157,819 / 105,264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터빈별 10분 실측 (train만)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ldaps/gfs_test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140,160 / 78,840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 1년 (8,760시간)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703320"/>
            <a:ext cx="5760720" cy="2468880"/>
          </a:xfrm>
          <a:prstGeom prst="roundRect">
            <a:avLst>
              <a:gd name="adj" fmla="val 259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8313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format → 모델 입력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197096"/>
            <a:ext cx="53949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1시각당 격자 수만큼 행이 반복 → 그대로는 모델에 못 넣음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통계(IDW 가중평균·최근접·분산)로 집계해 1시각 1행으로 (Ch.4)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간 분산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버리지 않고 '예보 불확실성' 피처로 재활용 — 단, EDA에서 일주기(diurnal) 혼입 확인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46520" y="1417320"/>
            <a:ext cx="5257800" cy="2468880"/>
          </a:xfrm>
          <a:prstGeom prst="roundRect">
            <a:avLst>
              <a:gd name="adj" fmla="val 259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9400" y="154533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시각 컬럼 (최대 함정)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1911096"/>
            <a:ext cx="48920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forecast_kst_dtm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예측 대상 시각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data_available_kst_dtm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그 예보를 실제로 쓸 수 있게 된 시각 (전날 09시 발표분 → 13시부터 가용)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data_available을 공유하는 24개 시각 = 한 '발표묶음'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발표~대상 시각 간격(lead time)은 12~35시간 (Ch.3에서 상세)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46520" y="4069080"/>
            <a:ext cx="5257800" cy="2103120"/>
          </a:xfrm>
          <a:prstGeom prst="roundRect">
            <a:avLst>
              <a:gd name="adj" fmla="val 304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29400" y="419709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구조가 곧 검증 설계다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29400" y="4562856"/>
            <a:ext cx="4892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CV는 발표묶음 단위로만 끊어야 미래 정보가 안 샘 (Ch.3)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모델(LSTM)의 시퀀스 단위도 달력 하루가 아니라 발표묶음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데이터도 같은 컷오프(D-1 14:00 KST)를 지켜야 함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2. 데이터와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 함정 ① — 평균으로 집계하면 상관 0.00, 합산하면 0.97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데이터와 EDA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309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783080"/>
                <a:gridCol w="173736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집계 시 상관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SUM 집계 시 상관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SUM 시 스케일 비율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0.9655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0.9689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0.9491*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0.9491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0632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group3(UNISON)은 이상치가 없어 원시치 그대로도 상관이 나옴. 라벨과의 상관·스케일이 SUM에서만 1:1로 맞는다.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3566160"/>
            <a:ext cx="6309360" cy="2606040"/>
          </a:xfrm>
          <a:prstGeom prst="roundRect">
            <a:avLst>
              <a:gd name="adj" fmla="val 24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36941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SUM인가 — 물리 단위로 검증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059936"/>
            <a:ext cx="59436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컬럼명 power_kw10m은 '순시 kW'처럼 보이지만 실제론 10분 구간 에너지(kWh)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이상치 제거 후 vestas 10분값 최대 ~602 ≈ 정격 3,600kW ÷ 6 = 600 (이론적 10분 에너지 상한)과 정확히 일치. UNISON도 ~800 ≈ 4,200÷6=700 근접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kst_dtm은 집계 구간의 '종료 시각' — HH:00~HH:50 6개 값이 라벨의 HH+1:00과 상관 0.999 (같은 HH:00 라벨과는 0.954)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95160" y="1463040"/>
            <a:ext cx="4709160" cy="4709160"/>
          </a:xfrm>
          <a:prstGeom prst="roundRect">
            <a:avLst>
              <a:gd name="adj" fmla="val 1359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78040" y="159105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 — 단위 검증의 교과서적 사례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1956816"/>
            <a:ext cx="4343400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컬럼명·문서를 믿지 말고 정답(라벨)과 대조해 검증하라.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평균을 썼다면 6배 과소 추정된 SCADA로 모든 후속 분석이 오염됐을 것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 자체가 학습거리: ① 두 가설(평균/합)을 모두 계산 ② 라벨과 상관·스케일 비교 ③ 물리 상한(정격÷6)으로 교차 확인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후엔 loaders.py의 aggregate_scada_to_hourly 한 함수로만 집계하도록 강제 — 재구현 금지 규칙으로 실수 원천 차단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일반화: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정합성 검증(sanity check)은 '한 번 하고 끝'이 아니라 코드 규칙으로 고정해야 팀 전체가 안전하다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2. 데이터와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 함정 ② — 극단값 마스킹과 '부드러운 신호'라는 한계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데이터와 EDA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vestas 센서 글리치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157,819행 중 759행(0.48%)에 물리적으로 불가능한 값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절댓값 최대 ~5.18×10⁷ (정상 상한 ~602의 8만 배)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터빈 컬럼에 44~102건씩 고르게 분포 → 특정 터빈 결함이 아니라 전송/센서 계통 이슈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처방: |값| &gt; 700 마스킹 필수.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unison은 글리치 0건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5577840" cy="2240280"/>
          </a:xfrm>
          <a:prstGeom prst="roundRect">
            <a:avLst>
              <a:gd name="adj" fmla="val 285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0599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라벨-SCADA gap — 생각보다 크다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425696"/>
            <a:ext cx="5212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후에도 gap p5~p95 = ±14~16%p, p1~p99 = ±23~29%p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계절성까지 있음: 겨울 6~9% ↑ / 여름 3~4% ↓ (커튜멘트(=계통 사정으로 출력을 강제로 줄이는 출력제한)·계통 제약 추정)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SCADA는 QA pass/fail 기준이 아니라 '부드러운 참고 신호'로만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SCADA가 준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검증 (sum 규약 확정 — 앞 장)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나셀 풍속(*_ws) → QM 편향보정의 실측 기준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(Ch.4, g2 CV +0.0018)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파워커브 파라미터의 물리 검증 (정격÷6 상한)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결측/이상 구간 진단 (그룹1·2 동시 결측 = 부지 공통 정전)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931920"/>
            <a:ext cx="5440680" cy="2240280"/>
          </a:xfrm>
          <a:prstGeom prst="roundRect">
            <a:avLst>
              <a:gd name="adj" fmla="val 285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0599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확정 사실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425696"/>
            <a:ext cx="507492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결측은 라벨에만: g1/g2 각 103~104시간(0.4%), g3는 2022년 전체 결측 + 6시간 → 단순 drop으로 충분, 임퓨테이션 불필요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g3 용량 초과 38건(최대 +0.62%) → 후처리 clip(0, capacity×1.01) 안전장치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파일(LDAPS/GFS) 시간축 결측 0건 — 보간 로직 자체가 불필요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2. 데이터와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LDAPS 0.73 vs GFS 0.54 — 해상도가 그대로 예측력이 된다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데이터와 EDA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1463040"/>
            <a:ext cx="507492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12280" y="15910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12280" y="1956816"/>
            <a:ext cx="4709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산악 지형 풍력단지에서 1.5km 국지 모델이 28km 전지구 모델보다 국지 바람을 훨씬 잘 잡음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LDAPS를 주 피처, GFS는 보조·다양성용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우선순위 확정 — 이후 gain 중요도에서도 재확인됨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 ECMWF(0.25°)는 상관 0.773으로 LDAPS(0.744)마저 상회 — '해상도가 전부는 아니다'는 반전 (Ch.6)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29400" y="3931920"/>
            <a:ext cx="5074920" cy="2011680"/>
          </a:xfrm>
          <a:prstGeom prst="roundRect">
            <a:avLst>
              <a:gd name="adj" fmla="val 318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12280" y="40599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lead-hour 효과는? — 없었다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12280" y="4425696"/>
            <a:ext cx="4709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 12~17h vs 30~35h의 풍속-발전 상관 차이 미미 (예: g1 0.729 vs 0.730)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간 분산은 lead가 아니라 일주기(새벽 최대·낮 최소)에 지배됨 — 불확실성 피처 설계 시 이 혼입을 감안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2. 데이터와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파워커브의 S자 비선형, 그리고 EDA가 확정해 준 것들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데이터와 EDA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풍속→발전량은 S자 곡선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cut-in 3m/s 이하 ≈ 0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4~10m/s 급상승(∝v³)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정격(~11.3~12m/s) 포화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cut-out 22~22.5m/s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VESTAS V126 3.6MW(g1/g2) / UNISON U136 4.2MW(g3) — 제조사 스펙을 domain-researcher가 확인 (turbine_power_curves.md)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g3는 중간 풍속대 capacity factor가 약간 낮음 — 기종 차이 → 그룹별 개별 모델의 근거 중 하나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206240"/>
            <a:ext cx="5577840" cy="1965960"/>
          </a:xfrm>
          <a:prstGeom prst="roundRect">
            <a:avLst>
              <a:gd name="adj" fmla="val 32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3342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피처로 미리 넣나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700016"/>
            <a:ext cx="5212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 모델도 비선형을 배울 수 있지만, 물리적으로 아는 변환(파워커브, v³)을 피처로 주면 적은 데이터로 더 빨리 정확히 학습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ldaps_10m_power_curve_idw 계열이 g2/g3 gain 상위권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챕터 요약 — 설계에 꽂힌 결론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 집계는 SUM, |값|&gt;700 마스킹, 종료시각 규약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결측은 drop, 후처리 clip(0, cap×1.01)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LDAPS 주 / GFS 보조, 격자분산은 일주기 감안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g3: 짧은 학습기간(2023~) + 낮은 상관 → 그룹별 모델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4개 기상 파일 리키지 전수검사 0건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420624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334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700016"/>
            <a:ext cx="5074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'모델링 전에 전수 조사'가 이 프로젝트에서 가장 수익률 높은 투자였다.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sum/mean 함정 하나만 놓쳤어도 전체가 무너졌음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산출물을 리포트+원시 JSON으로 남겨 이후 모든 논쟁의 준거로 사용 (reports/eda/eda_summary.md)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[심화 1] 시계열 CV와 리키지 방지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설계가 모델보다 중요하다 — 이 프로젝트의 첫 번째 기둥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리키지(leakage) = 실전에서는 없을 미래·정답 정보가 학습/검증에 새어 드는 것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발표묶음(data_available_kst_dtm) 단위 expanding-window 분할 — BlockTimeSeriesSplit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NWP 백필의 리키지 산술: D-1 14:00 KST 컷오프, previous_day2, 배포지연 보수 추정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데이터엔 리키지 0건 — 위험은 100% 우리가 만드는 분할·피처에 있었다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3. [심화 1] 개념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리키지란 무엇이고, 시계열에서는 왜 랜덤 분할이 금지인가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시계열 CV와 리키지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468880"/>
          </a:xfrm>
          <a:prstGeom prst="roundRect">
            <a:avLst>
              <a:gd name="adj" fmla="val 259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리키지(leakage) — 한 줄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예측 시점에는 가질 수 없는 정보(미래 데이터, 정답의 흔적)가 학습·검증 과정에 섞여 들어가는 것.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CV 점수는 화려한데 실전(리더보드)에서 무너짐 — '자기가 자기를 채점'한 셈이라 점수가 부풀려짐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빅분기에서 배운 k-fold CV는 행이 서로 독립일 때 얘기 — 시계열은 이웃 행이 강하게 상관돼 있어 전제가 깨진다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5577840" cy="2148840"/>
          </a:xfrm>
          <a:prstGeom prst="roundRect">
            <a:avLst>
              <a:gd name="adj" fmla="val 2979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1513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CV의 표준 해법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517136"/>
            <a:ext cx="52120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순서를 지키는 분할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학습은 항상 과거, 검증은 항상 미래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expanding window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폴드가 진행될수록 학습 구간을 과거부터 누적해 넓혀가는 방식 (우리 채택)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묶여 다니는 행들(같은 발표·같은 그룹)은 한 덩어리로 같은 쪽에 — 'blocked/grouped' 분할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468880"/>
          </a:xfrm>
          <a:prstGeom prst="roundRect">
            <a:avLst>
              <a:gd name="adj" fmla="val 259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프로젝트의 리키지 위험 3종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분할 리키지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같은 발표묶음 24시간이 train/val 양쪽에 걸치면 '같은 예보'로 자기 채점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피처 리키지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rolling 통계가 발표묶음 경계를 넘으면 다른(미래) 발표의 값을 참조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외부 데이터 리키지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백필한 외부 예보가 실제로는 컷오프 이후에나 배포된 run이면 실전 재현 불가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402336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1513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'심화 1'로 뽑았나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517136"/>
            <a:ext cx="50749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EDA에서 원본 4개 파일 리키지 전수검사 0건 → 위험은 전적으로 우리 구현에 있음이 확정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리키지는 사후에 발견하기 가장 어려운 버그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점수가 '좋아지는' 버그라서. 그래서 분할기·산술을 단위테스트로 고정했다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3. [심화 1]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발표묶음 — 하루 한 번 발표되는 24시간짜리 예보 덩어리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시계열 CV와 리키지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용어: 발표묶음 = 같은 data_available_kst_dtm(가용 시각)을 공유하는 24개 예측 시각의 집합. 실제 KPX 제도처럼 '전날 오전 발표 예보로 다음날 24시간을 한 번에 예측'하는 단위다.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09:00 KST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LDAPS 발표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2304288"/>
            <a:ext cx="548640" cy="365760"/>
          </a:xfrm>
          <a:prstGeom prst="rightArrow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031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13:00 KST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data_available (사용 가능)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304288"/>
            <a:ext cx="548640" cy="365760"/>
          </a:xfrm>
          <a:prstGeom prst="rightArrow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10312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103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D일 01:00 ~ D+1일 00:00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대상 24시간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5577840" cy="2880360"/>
          </a:xfrm>
          <a:prstGeom prst="roundRect">
            <a:avLst>
              <a:gd name="adj" fmla="val 222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3741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 time (예보 시차)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739896"/>
            <a:ext cx="521208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 time = 예보 발표(가용) 시점부터 예측 대상 시각까지의 시간 간격.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구조에선 12~35시간 (자정 직후 시각일수록 김)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확인: lead가 길어져도 풍속-발전 상관은 거의 안 떨어짐 (g1 0.729→0.730) — lead 피처는 큰 재미를 못 봄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발표묶음 1,096개(3년), test 365개(1년)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440680" cy="2880360"/>
          </a:xfrm>
          <a:prstGeom prst="roundRect">
            <a:avLst>
              <a:gd name="adj" fmla="val 222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33741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단위로 CV를 끊나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739896"/>
            <a:ext cx="507492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묶음의 24시간은 '같은 예보 원본'을 공유 — 12시간은 train, 12시간은 val로 가르면 사실상 같은 정보로 자기 채점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실전(test)도 발표묶음 단위로 예보가 주어짐 — 검증이 실전과 같은 모양이어야 CV 점수가 실전을 예고한다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원칙: '검증은 실전의 리허설' — 실전과 다른 방식으로 검증하면 그 점수는 의미가 없다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3. [심화 1]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BlockTimeSeriesSplit — 발표묶음 경계로만 자르는 expanding-window CV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시계열 CV와 리키지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92240" cy="3291840"/>
          </a:xfrm>
          <a:prstGeom prst="roundRect">
            <a:avLst>
              <a:gd name="adj" fmla="val 1944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612648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src/validation/splitter.py (요약)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blocks = sorted(unique(df['data_available_kst_dtm']))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np.array_split(np.arange(len(blocks)), n_splits + 1)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range(1, n_splits + 1):        # 5 folds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val_blocks   = chunks[k]            # 검증 = k번째 청크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train_blocks = blocks[:val_blocks[0]]  # 학습 = 그 이전 전부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rows_in(train_blocks), rows_in(val_blocks)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assert_no_leakage(train, val):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1) 두 쪽에 같은 발표묶음이 없는가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2) max(train 묶음) &lt; min(val 묶음) 인가  -&gt; 위반 시 즉시 예외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4892040"/>
            <a:ext cx="6492240" cy="1280160"/>
          </a:xfrm>
          <a:prstGeom prst="roundRect">
            <a:avLst>
              <a:gd name="adj" fmla="val 50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5020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디테일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38581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묶음을 6청크로 나누고 청크0은 검증에 안 씀(폴드1의 학습 전용) — 그래서 OOF는 뒤쪽 5/6만 커버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train_test_split 호출은 프로젝트 규칙으로 금지 — 반드시 이 분할기만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78040" y="1417320"/>
            <a:ext cx="452628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154533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풀면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1911096"/>
            <a:ext cx="4160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"발표일 기준으로 시간순 정렬 → 6등분 → 항상 '과거 전부로 학습, 다음 조각으로 검증'을 5번 반복"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폴드마다 학습량이 다름(1/6→5/6) → 초기 폴드는 원래 점수가 낮다. 폴드 간 편차가 커서 CV로는 ±0.002 수준의 차이를 가려낼 수 없다 — 판정 규율의 근거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78040" y="4206240"/>
            <a:ext cx="4526280" cy="1965960"/>
          </a:xfrm>
          <a:prstGeom prst="roundRect">
            <a:avLst>
              <a:gd name="adj" fmla="val 32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433425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모델도 같은 경계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0920" y="4700016"/>
            <a:ext cx="41605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LSTM/Transformer의 시퀀스 1개 = 발표묶음 24시간 (달력 하루가 아님)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시퀀스가 폴드 경계에 걸치는 일이 구조적으로 불가능 → 모델을 바꿔도 검증 체계는 동일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3. [심화 1] 개념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데이터를 쓸 때의 리키지 산술 — '그때 그 예보를 정말 가질 수 있었나'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시계열 CV와 리키지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606040"/>
          </a:xfrm>
          <a:prstGeom prst="roundRect">
            <a:avLst>
              <a:gd name="adj" fmla="val 24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NWP와 백필 — 용어부터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NWP(수치예보모델)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물리 방정식으로 미래 대기를 계산하는 기상 모델. LDAPS(한국), GFS(미국), ECMWF(유럽), ICON(독일), GEM(캐나다), JMA(일본) 등 기관별로 존재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백필(backfill)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과거 시점에 발표됐던 예보를 아카이브에서 끌어와 학습 데이터에 채워 넣는 것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NWP는 오차 패턴이 달라 '제2의 의견'이 됨 — 추가 신호원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160520"/>
            <a:ext cx="5577840" cy="1965960"/>
          </a:xfrm>
          <a:prstGeom prst="roundRect">
            <a:avLst>
              <a:gd name="adj" fmla="val 32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2885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함정: 아카이브의 시점 문제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654296"/>
            <a:ext cx="5212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아카이브가 주는 값이 '언제 발표된 run'인지 안 따지면, 실전에선 아직 안 나온 최신 예보로 학습하는 리키지 발생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예보는 발표(init) 후 배포(dissemination)까지 지연이 있다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지연까지 계산에 넣어야 안전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606040"/>
          </a:xfrm>
          <a:prstGeom prst="roundRect">
            <a:avLst>
              <a:gd name="adj" fmla="val 24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정보 컷오프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대상일 D의 예측에 쓸 수 있는 정보는 D-1 14:00 KST 이전에 확정된 것뿐.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대회 제공 LDAPS/GFS가 D-1 09시 발표 → 13시 가용 구조. 외부 데이터도 최소한 같은 기준을 지켜야 실전 재현 가능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마진을 두려고 13:00이 아니라 14:00 직전 배포 완료까지 요구하는 보수적 기준 채택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416052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2885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원칙 (자습 포인트)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654296"/>
            <a:ext cx="5074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데이터는 '값이 맞느냐'보다 '그 시점에 가질 수 있었느냐'를 먼저 증명해야 한다.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증명은 말이 아니라 산술로: 발표 주기 + 배포 지연 + 컷오프를 시간 단위로 계산하고, 그 산술을 테스트 코드로 고정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3. [심화 1]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ECMWF 백필의 previous_day2 산술 — 한 시간 단위까지 따진 안전 증명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시계열 CV와 리키지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675120" cy="3200400"/>
          </a:xfrm>
          <a:prstGeom prst="roundRect">
            <a:avLst>
              <a:gd name="adj" fmla="val 2000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630936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src/data/fetch_ecmwf.py -- OFFSET_DAYS = 2 인 이유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ECMWF 배포 시각 (init + 5h45m ~ 7h34m):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D-1 00z run -&gt; D-1 14:45~16:34 KST  = 컷오프(14:00) 이후 -&gt; 사용 불가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D-2 12z run -&gt; D-1 02:45~04:34 KST  = 컷오프 9시간 전    -&gt; 안전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Open-Meteo Previous Runs API: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previous_day2 = 대상 시각 T를 '48시간 전 run'에서 가져옴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-&gt; D일 24시간의 implied init = D-3 12z ... D-2 12z (전부 안전)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previous_day1은 늦은 시각에서 D-1 12z run까지 닿음 -&gt; 리키지 -&gt; 금지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OFFSET_DAYS = 2   # tests/test_ecmwf.py 가 시간 단위로 재검증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4800600"/>
            <a:ext cx="6675120" cy="1325880"/>
          </a:xfrm>
          <a:prstGeom prst="roundRect">
            <a:avLst>
              <a:gd name="adj" fmla="val 4828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92861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산술이 말하는 건 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294376"/>
            <a:ext cx="6309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"하루 전 run은 배포가 컷오프를 45분 넘겨서 못 쓰고, 이틀 전 run은 9시간 여유로 안전하다"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45분 차이로 offset이 1에서 2가 됐다. 리키지 판정은 이렇게 아슬아슬하다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1417320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15453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보수적 추정의 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1911096"/>
            <a:ext cx="39776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API의 stitching이 가정보다 한 사이클 늦어도 최악이 D-2 18z — 여전히 안전하도록 여유를 둠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ICON/GEM/JMA도 각자 배포 시각을 확인 못 한 경우 ECMWF의 7h34m 지연을 그대로 보수 차용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소스마다 tests/test_*.py로 산술 재검증 (ICON은 20개 테스트)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0920" y="4206240"/>
            <a:ext cx="4343400" cy="1920240"/>
          </a:xfrm>
          <a:prstGeom prst="roundRect">
            <a:avLst>
              <a:gd name="adj" fmla="val 33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433425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대가: 커버리지·선도 손실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3800" y="4700016"/>
            <a:ext cx="3977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이틀 전 run이라 정보가 하루 낡음 + 아카이브가 2024-04부터라 train의 ~75%가 결측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'부분 커버리지'가 Ch.6의 대사건(CV 배신)의 씨앗이 된다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3. [심화 1] 교훈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1 정리 — 리키지 방지는 규칙·코드·테스트의 3중 방어로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시계열 CV와 리키지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11880" cy="2834640"/>
          </a:xfrm>
          <a:prstGeom prst="roundRect">
            <a:avLst>
              <a:gd name="adj" fmla="val 2258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847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CLAUDE.md에 '발표묶음 단위 분할, train_test_split 직접 호출 금지'를 프로젝트 헌법으로 명문화. 사람이 바뀌어도(에이전트가 바뀌어도) 원칙이 유지된다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611880" cy="2834640"/>
          </a:xfrm>
          <a:prstGeom prst="roundRect">
            <a:avLst>
              <a:gd name="adj" fmla="val 2258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1847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24231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BlockTimeSeriesSplit 하나로 분할 경로를 단일화하고, assert_no_leakage가 위반 시 즉시 예외를 던지게 함. '조심하자'가 아니라 '어길 수 없게'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554480"/>
            <a:ext cx="3611880" cy="2834640"/>
          </a:xfrm>
          <a:prstGeom prst="roundRect">
            <a:avLst>
              <a:gd name="adj" fmla="val 2258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783080"/>
            <a:ext cx="502920" cy="502920"/>
          </a:xfrm>
          <a:prstGeom prst="ellipse">
            <a:avLst/>
          </a:prstGeom>
          <a:solidFill>
            <a:srgbClr val="2FA37C"/>
          </a:solidFill>
          <a:ln w="12700">
            <a:solidFill>
              <a:srgbClr val="2FA3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1847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24231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데이터의 시점 산술(tests/test_ecmwf.py 등)을 시간 단위로 재검증하는 테스트를 소스마다 작성. 리키지는 점수가 좋아지는 버그라 테스트 없인 못 잡는다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617720"/>
            <a:ext cx="11201400" cy="1554480"/>
          </a:xfrm>
          <a:prstGeom prst="roundRect">
            <a:avLst>
              <a:gd name="adj" fmla="val 4118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745736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질문 (자습용)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111496"/>
            <a:ext cx="10835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발표묶음을 무시하고 시간 단위로 랜덤 5-fold를 하면 CV 점수는 어느 방향으로, 왜 왜곡되는가?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previous_day1이 리키지인 이유를 배포 시각 산술로 직접 설명할 수 있는가?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rolling 피처가 발표묶음 경계를 넘으면 왜 리키지인가? (힌트: test에서는 이전 묶음의 예보를 이어붙일 수 없다)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[심화 2] 피처 엔지니어링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물리를 피처로 번역하기 — 통한 것과 안 통한 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IDW 집계, 풍향 sin/cos 분해, v³ 파워커브 — 물리 기반 기본기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 나셀풍속 quantile mapping 보정 (g2 CV +0.0028 재료 위 +0.0018)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NWP 11피처 템플릿 + 교차모델 불일치 피처 — 후반 최대 수확(ECMWF)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실패의 절반: Phase A 피처, 물리 피처 전면 도입, 석포 AWS, ICON, JMA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개념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엔지니어링 — 아는 물리를 모델이 배우기 쉬운 형태로 미리 계산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트리 모델에도 피처가 중요한가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GBM은 비선형을 스스로 배우지만, 분기(step function)의 조합이라 매끄러운 물리 곡선(v³)을 흉내내려면 많은 분기·데이터가 필요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물리로 아는 변환을 피처로 주면 = 모델이 배워야 할 것을 줄여줌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2만 행 규모에선 특히 유효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5577840" cy="2240280"/>
          </a:xfrm>
          <a:prstGeom prst="roundRect">
            <a:avLst>
              <a:gd name="adj" fmla="val 285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0599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수 vs 행 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425696"/>
            <a:ext cx="5212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피처 ~141개 vs 학습 행 ~2만 — 과적합 위험 구간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해법: gain 기반 pruning으로 그룹별 48~73개로 축소 + 이후엔 '그룹별 선택 채택'으로 정밀 관리 (뒤 슬라이드)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4754880"/>
          </a:xfrm>
          <a:prstGeom prst="roundRect">
            <a:avLst>
              <a:gd name="adj" fmla="val 134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챕터의 피처 지도 (src/features/)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weather_features.py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격자 집계(IDW/nearest), 풍속·풍향, 파워커브, rolling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wake_features.py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g1→g2 후류(웨이크) 정렬 피처 (채택)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wind_qm.py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SCADA 나셀풍속 quantile mapping 보정 (채택, g2)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build_features.py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ECMWF/ICON/GEM/JMA 11피처 템플릿 병합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feature_selection.py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gain 95% pruning + manual_overrides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physics_features.py, wind_shear.py, calendar_features.py, scada_power_curve.py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대부분 기각 (실패 슬라이드에서 정직하게)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피처마다 '왜 만들었나 → 수치로 뭐가 됐나'를 따라가는 것이 이 챕터의 목적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집계 — 16개 격자를 터빈 위치 기준 대표값으로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035040" cy="2377440"/>
          </a:xfrm>
          <a:prstGeom prst="roundRect">
            <a:avLst>
              <a:gd name="adj" fmla="val 2692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56692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weather_features.py :: spatial_aggregate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그룹별 터빈 무게중심(GPS 평균) 기준: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w_i = 1 / distance_i**2          # IDW 가중치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col_idw = sum(w_i * col_i) / sum(w_i)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col_nearest = col[argmin(distance)]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col_std, col_range = 격자 간 분산/범위   # 불일치도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6035040" cy="1051560"/>
          </a:xfrm>
          <a:prstGeom prst="roundRect">
            <a:avLst>
              <a:gd name="adj" fmla="val 608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05993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수식이 말하는 건 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425696"/>
            <a:ext cx="5669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"터빈에 가까운 격자일수록 발언권을 거리 제곱에 반비례해 크게 주고 평균"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산악 지형에서 먼 격자의 엉뚱한 바람이 대표값을 오염시키지 않게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120640"/>
            <a:ext cx="6035040" cy="1051560"/>
          </a:xfrm>
          <a:prstGeom prst="roundRect">
            <a:avLst>
              <a:gd name="adj" fmla="val 608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524865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pivot(wide) 대신 집계인가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614416"/>
            <a:ext cx="5669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16격자 × 변수면 컬럼 폭발 + 격자 간 상관 심함 → 대표값 + 분산 요약이 2만 행 규모에 적합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498348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54533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분산(grid_std/range)의 재발견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1911096"/>
            <a:ext cx="46177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'예보 불확실성' 피처로 넣었다가 노이즈로 기각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 그룹별 한정 재도전에서 g2 CV +0.0028의 핵심 재료로 부활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(probe_g2physics, 실전 0.6311 기여)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피처도 '어느 그룹에, 어떤 조합으로'에 따라 운명이 달라짐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3931920"/>
            <a:ext cx="4983480" cy="2240280"/>
          </a:xfrm>
          <a:prstGeom prst="roundRect">
            <a:avLst>
              <a:gd name="adj" fmla="val 285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405993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4425696"/>
            <a:ext cx="461772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데이터 → 표 형태 변환의 3가지 표준 수: 가중평균(IDW) / 대표점(nearest) / 산포(std·range)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'집계에서 버린 정보(산포)'를 별도 피처로 살려두는 습관 — 정보는 요약하되 요약 손실을 측정 가능하게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풍향 벡터분해와 v³ 파워커브 — 물리를 그대로 피처로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943600" cy="2651760"/>
          </a:xfrm>
          <a:prstGeom prst="roundRect">
            <a:avLst>
              <a:gd name="adj" fmla="val 2414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55778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풍속/풍향: u(동서), v(남북) 성분에서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sqrt(u**2 + v**2)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dir_sin, dir_cos = sin(theta), cos(theta)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파워커브 변환 (정규화 출력 0~1):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v &lt; cut-in(3m/s)        -&gt;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3 ~ rated(11.3~12m/s)   -&gt; S자 상승 (~v**3)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rated ~ cut-out(22.5)   -&gt; 1 (포화)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rho_v3 = 0.5 * rho * speed**3   # 물리 에너지 플럭스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4206240"/>
            <a:ext cx="5943600" cy="960120"/>
          </a:xfrm>
          <a:prstGeom prst="roundRect">
            <a:avLst>
              <a:gd name="adj" fmla="val 666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33425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수식이 말하는 건 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700016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"바람 에너지는 풍속의 세제곱"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풍속 2배면 에너지 8배. 5→6m/s 변화가 10→11m/s보다 발전량에 미치는 영향이 전혀 다르다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5303520"/>
            <a:ext cx="5943600" cy="868680"/>
          </a:xfrm>
          <a:prstGeom prst="roundRect">
            <a:avLst>
              <a:gd name="adj" fmla="val 7368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5431536"/>
            <a:ext cx="5577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풍향을 sin/cos 두 개로 쪼개는 이유: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359°와 1°는 사실상 같은 방향인데 숫자로는 정반대 — 원형 변수는 좌표로 풀어야 모델이 연속성을 본다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9400" y="1417320"/>
            <a:ext cx="507492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5453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웨이크(wake) 피처 — 도메인 조사가 낳은 피처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1911096"/>
            <a:ext cx="47091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웨이크 = 앞 터빈이 바람을 빼앗아 뒤 터빈 발전이 줄어드는 후류 효과.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재계산: g1→g2 방위각 115°, 거리 1.28km → 바람이 295°(WNW)에서 불 때 g1이 g2를 가림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풍향-정렬 코사인 피처로 구현 → g2 canonical 피처셋에 채택 (wake_features.py)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g2만 다른 그룹과 반대로 반응하던 이상 현상의 물리적 설명 후보였음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420624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43342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gain 중요도로 본 검증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4700016"/>
            <a:ext cx="47091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g2/g3에서 ldaps_10m_power_curve_idw 계열이 gain 상위 5위권 — 물리 변환이 실제로 쓰임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g1은 gfs_80m/100m_u가 최상위 — 그룹마다 듣는 피처가 다름 → 그룹별 피처 선택의 근거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구조 피처 — rolling 통계는 발표묶음 안에서만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468880"/>
          </a:xfrm>
          <a:prstGeom prst="roundRect">
            <a:avLst>
              <a:gd name="adj" fmla="val 259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풍속·파워커브의 3/6/12/24h rolling 평균·표준편차 — 예보의 추세와 변동성 요약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실효 확인: ldaps_10m_speed_idw_roll_mean_3h가 g3 gain 1위(21.9%), g2 2위(14.8%)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lead_hours·캘린더(시각/월) 피처도 시도 → CV 악화로 미채택 (뒤 실패 슬라이드)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5577840" cy="2103120"/>
          </a:xfrm>
          <a:prstGeom prst="roundRect">
            <a:avLst>
              <a:gd name="adj" fmla="val 304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1513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규칙이 핵심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517136"/>
            <a:ext cx="5212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rolling 창은 발표묶음 24시간 안에서만 굴린다.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묶음 경계를 넘으면 '어제 발표된 다른 예보'의 값이 섞임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test에서도 각 묶음은 독립적으로 주어지므로, train에서만 이어붙이면 train/test 분포가 달라짐 (또 하나의 리키지 형태)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468880"/>
          </a:xfrm>
          <a:prstGeom prst="roundRect">
            <a:avLst>
              <a:gd name="adj" fmla="val 259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'실측 lag'는 없나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시계열 예측이면 어제 발전량(lag)이 최강 피처지만, 이 문제는 하루 전 예보 시점에 당일 실측이 아직 없음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SCADA도 test 기간엔 미제공 → 실측 기반 lag/rolling은 원천 불가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'순수 예보 → 발전량' 매핑 문제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성격이 모델 선택(시퀀스 전체를 한 번에 보는 seq2seq)에도 반영됨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402336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1513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517136"/>
            <a:ext cx="5074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피처를 만들 땐 항상 '실전 추론 시점에 이 값을 계산할 수 있는가'를 물어라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여기서의 답: 같은 발표묶음 안의 값만 가능 — 그래서 창의 경계가 묶음 경계와 일치해야 한다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Quantile Mapping — SCADA 실측으로 예보 풍속의 분포 편향을 교정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용어: quantile mapping(분위수 매핑) = 예보값의 백분위(예: 상위 10% 풍속)를 실측값의 같은 백분위 값으로 바꿔치기하는 고전적 분포 편향 보정. 기상·수문학의 표준 기법.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6217920" cy="2514600"/>
          </a:xfrm>
          <a:prstGeom prst="roundRect">
            <a:avLst>
              <a:gd name="adj" fmla="val 2545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84248"/>
            <a:ext cx="585216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src/features/wind_qm.py (요약)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fit_quantile_mapping(forecast, actual, n=99):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pct = linspace(1, 99, 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{f_pct: percentile(forecast, pct),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a_pct: percentile(actual,  pct)}   # train만으로 fit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apply_quantile_mapping(new_forecast, m):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단조 조각선형 매핑, 범위 밖은 클립(외삽 금지)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np.interp(new_forecast, m.f_pct, m.a_pct)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4526280"/>
            <a:ext cx="6217920" cy="1600200"/>
          </a:xfrm>
          <a:prstGeom prst="roundRect">
            <a:avLst>
              <a:gd name="adj" fmla="val 40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65429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코드가 말하는 건 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020056"/>
            <a:ext cx="5852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"LDAPS가 '풍속 8m/s'라고 말할 때, 과거에 LDAPS가 8m/s라던 날들의 실측이 평균적으로 어땠는지로 번역해 준다"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리키지 안전: train 쌍으로만 fit → frozen 함수로 test에 적용. 적용 대상 행의 정보는 전혀 안 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874520"/>
            <a:ext cx="4800600" cy="2103120"/>
          </a:xfrm>
          <a:prstGeom prst="roundRect">
            <a:avLst>
              <a:gd name="adj" fmla="val 304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86600" y="20025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(수치)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2368296"/>
            <a:ext cx="4434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g2: CV 0.6383 (+0.0018, 물리 재료 위에 추가 개선)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g1 −0.0003(중립) / g3 −0.0009(소폭 악화) → g2에만 영구 채택 (selected_features.json manual_overrides)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실전: probe_qmwind 0.6316 — 당시 기준(0.6302) 대비 +0.0014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4160520"/>
            <a:ext cx="4800600" cy="1965960"/>
          </a:xfrm>
          <a:prstGeom prst="roundRect">
            <a:avLst>
              <a:gd name="adj" fmla="val 32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42885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6600" y="4654296"/>
            <a:ext cx="44348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SCADA를 '입력 불가' 제약 아래서도 쓰는 법: 값이 아니라 함수(매핑)를 학습해 가져간다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검증: g2-단독 재학습으로 g1/g3 예측이 byte-identical임을 확인 — 오염 없는 채택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NWP — 소스마다 같은 11피처 템플릿 + 교차모델 불일치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035040" cy="2834640"/>
          </a:xfrm>
          <a:prstGeom prst="roundRect">
            <a:avLst>
              <a:gd name="adj" fmla="val 2258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56692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build_features.py :: ECMWF_FEATURE_COLS (11개 템플릿)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ecmwf_ws100, ecmwf_ws10        # 풍속 (100m/10m)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ecmwf_ws100_cubed              # v**3 물리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ecmwf_dir_sin, ecmwf_dir_cos   # 풍향 분해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ecmwf_t2m, ecmwf_sp            # 기온, 기압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 교차모델 불일치 (모델 간 '의견 차') --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ecmwf_minus_ldaps_ws10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ecmwf_minus_ldaps_hub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ecmwf_ldaps_ws_ratio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ecmwf_minus_gfs_ws100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4434840"/>
            <a:ext cx="6035040" cy="1691640"/>
          </a:xfrm>
          <a:prstGeom prst="roundRect">
            <a:avLst>
              <a:gd name="adj" fmla="val 378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56285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피처의 아이디어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928616"/>
            <a:ext cx="56692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예보 모델이 서로 다르게 말하는 시간 = 예보가 불확실한 시간.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차이·비율 자체가 '오늘 예보를 얼마나 믿을지'의 신호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ICON/GEM/JMA도 같은 템플릿 재사용 → 소스 추가 비용이 급감 (GEM 11피처, JMA 9피처)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417320"/>
          <a:ext cx="4983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2377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커버리지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ECMWF IFS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2024-04+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— 실전 신기록 2회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 (DWD)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2024-02+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기각 (g1 CV -0.0023)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 (캐나다)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2024-03+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날 프로브 (g3 CV +0.0038)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JMA GSM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2022+ 전기간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기각 (CV 신뢰 → -0.0003)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UKMO / BOM / CMA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UKMO·BOM 불가 / CMA 2024-03+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UKMO 미아카이브 / BOM test 구멍 / CMA는 프로브 슬롯 우선순위에서 GEM에 밀림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20840" y="3703320"/>
            <a:ext cx="4983480" cy="2423160"/>
          </a:xfrm>
          <a:prstGeom prst="roundRect">
            <a:avLst>
              <a:gd name="adj" fmla="val 264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03720" y="383133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처리 원칙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03720" y="4197096"/>
            <a:ext cx="461772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 이전 구간은 NaN 그대로 — 0으로 채우지 않음.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LightGBM은 NaN을 네이티브 분기 처리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선택 덕에 부분 커버리지 소스도 학습 가능했지만, NN에는 독이 됐다 (Ch.7 NN-ECMWF 붕괴)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ECMWF 원신호는 target 상관 0.773로 LDAPS(0.744)보다 강했음 — 채택 전 신호 강도부터 확인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선택 — gain 기반 pruning + 그룹별 manual override 장부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gain 기반 pruning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gain = 그 피처가 트리 분기에서 줄인 손실의 총량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LightGBM이 계산해 주는 중요도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gain 95%까지만 유지: 141개 → 그룹별 48~73개 (g1 54, g2 73, g3 48이 원래 컷)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자체는 +0.0006으로 미미했지만 무해 + 이후 실험의 깨끗한 기준선이 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5577840" cy="2194560"/>
          </a:xfrm>
          <a:prstGeom prst="roundRect">
            <a:avLst>
              <a:gd name="adj" fmla="val 291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0599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manual_overrides 장부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425696"/>
            <a:ext cx="5212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리더보드/CV로 검증된 재료만 configs/selected_features.json에 그룹별로 영구 반영하고 사유를 기록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canonical: g1 76개(+ECMWF 11) / g2 71개(+물리 3, QM 2) / g3 70개(+물리 3, 취약 플래그 명시)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'실험 후 원복'의 규율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실험용 피처 추가는 스크립트로 적용 → 실험 끝나면 canonical과 byte-diff로 원복 검증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기각된 실험(ICON, ECMWF-g3)마다 'selected_features.json 원복 완료, canonical과 byte-identical' 기록을 남김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파일도 코드처럼 형상 관리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무엇이 '현재 진실'인지 항상 한 곳에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931920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0599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425696"/>
            <a:ext cx="5074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선택은 '한 번의 알고리즘'이 아니라 '증거가 쌓일 때마다 갱신하는 장부'로 운영하는 게 실전적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그룹(타깃)별로 피처셋을 달리 가져가는 건 멀티태스크 문제의 실용 해법 — 같은 피처가 g1엔 약이고 g2엔 독일 수 있다 (ECMWF가 정확히 그랬다)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실패도 절반이다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기각된 피처들 — 그리고 '천장 분석'이 알려준 이유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583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2194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허브높이 외삽·캘린더·lead_hours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악화, 미채택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전면 도입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공기밀도 ρ·ρv³·전단·풍향섹터·격자분산·SCADA 파워커브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노이즈 (g2 미세↑만), 미채택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석포 AWS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인근 관측소 실측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 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 g1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 NWP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g1 CV -0.0023, 기각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JMA 전그룹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 NWP (전기간 커버)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-0.0003 중립, 기각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q19 (19분위수)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분포 해상도 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+0.0013 → 실전 0.6274 (기준 미달)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1417320"/>
            <a:ext cx="4389120" cy="3017520"/>
          </a:xfrm>
          <a:prstGeom prst="roundRect">
            <a:avLst>
              <a:gd name="adj" fmla="val 2121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15453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분석 (ceiling analysis)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0" y="1911096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예보풍속 bin 안에서 실제 발전량이 ±20% 산포 — 예보 자체가 실제를 못 정한다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NMAE 13~15% vs '예보풍속만 쓴 오라클' 17% — 이미 2.4~3.6%p 더 정확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내 잔여를 설명할 변수(grid_std·dswrf(일사량)·blh(대기경계층 높이))는 이미 모델에 있음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물리 피처 재추가가 노이즈였던 건 우연이 아니라 필연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4892040"/>
            <a:ext cx="11201400" cy="1280160"/>
          </a:xfrm>
          <a:prstGeom prst="roundRect">
            <a:avLst>
              <a:gd name="adj" fmla="val 50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5020056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실패에서 배운 것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5385816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'주어진 입력에서 뽑을 신호가 소진되면, 더 좋은 피처가 아니라 더 좋은 입력(새 NWP)이 답'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결론이 후반 전략(외부 NWP 백필)을 만들었고, 실제로 ECMWF가 마지막 큰 도약이 됐다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빨리 확정하는 것도 성과: 천장 분석 덕에 피처 미세조정에 시간을 더 태우지 않았다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4. [심화 2]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통했나 — 그룹별 재료 최종 장부와 격리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4980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468880"/>
                <a:gridCol w="2148840"/>
                <a:gridCol w="21031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재료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실전 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ECMWF 11피처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+0.0038 (커버구간 OOF)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0.6302 신기록 (+0.0022)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3피처 (grid_range/std, ρv³)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+0.0028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0.6311 (+0.0009)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QM 풍속 2피처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+0.0018 (물리 위에)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0.6316 (+0.0014)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ECMWF 11피처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-0.0006 (CV는 중립!)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+0.0025 (스왑 비교로 확정)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3피처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+0.0013 (폴드 1/5만 개선)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무승부 -0.0001 (취약 플래그 적중)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417320"/>
            <a:ext cx="3429000" cy="3063240"/>
          </a:xfrm>
          <a:prstGeom prst="roundRect">
            <a:avLst>
              <a:gd name="adj" fmla="val 209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58200" y="15453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검증(byte-identical)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58200" y="1911096"/>
            <a:ext cx="30632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하나만 바꾼 재학습에서 나머지 그룹 test 예측이 바이트 단위로 동일함을 매번 확인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'개선이 정말 그 재료 때문인가'를 오염 없이 귀속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1실험 1변수 원칙의 코드적 구현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4663440"/>
            <a:ext cx="11201400" cy="1508760"/>
          </a:xfrm>
          <a:prstGeom prst="roundRect">
            <a:avLst>
              <a:gd name="adj" fmla="val 424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4791456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질문 (자습용)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5157216"/>
            <a:ext cx="10835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IDW에서 거리 제곱의 역수를 쓰는 이유는? 거리 1제곱과 결과가 어떻게 달라질까?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QM 보정이 리키지가 아닌 이유를 'fit에 쓰인 데이터'와 '적용되는 데이터'로 구분해 설명해 보라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g3 물리 피처는 CV 평균 +0.0013인데 왜 '확인된 승리'로 취급하지 않았나? (힌트: 폴드별 분해 -0.0006/+0.0171/-0.0032/-0.0020/-0.0045)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[심화 3] 분위수 GBM + 결정최적화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하나가 아니라 분포를 예측하고, 분포에서 '돈이 되는 점'을 고른다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분위수 회귀(quantile regression)와 pinball loss — 분포 예측의 기본기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9-분위수 LightGBM → pmf → 기대효용 최대화 (FICR 계단을 직접 겨냥)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+0.0035 (0.6091 → 0.6126) — 단일 변경으로는 최대급 도약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대안: 비대칭 손실, FICR-surrogate 손실, 19-분위수, 시드배깅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5. [심화 3] 개념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분위수 회귀와 pinball loss — '평균'이 아니라 '분포의 단면'을 배운다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분위수 GBM + 결정최적화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760720" cy="1691640"/>
          </a:xfrm>
          <a:prstGeom prst="roundRect">
            <a:avLst>
              <a:gd name="adj" fmla="val 378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996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분위수 회귀 — 한 줄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65376"/>
            <a:ext cx="5394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분위수 회귀 = '이 조건에서 실제값이 X 이하일 확률이 α'가 되는 X(=α-분위수)를 직접 예측하는 회귀.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α=0.5면 중앙값 예측, α=0.05~0.95를 여러 개 뽑으면 예측 '분포'의 골격이 나온다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5760720" cy="1828800"/>
          </a:xfrm>
          <a:prstGeom prst="roundRect">
            <a:avLst>
              <a:gd name="adj" fmla="val 3500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10128"/>
            <a:ext cx="5394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pinball(quantile) loss, 잔차 r = y - pred: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L_a(r) = a * r        if r &gt;= 0   (과소예측 시)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= (a-1) * r    if r &lt;  0   (과대예측 시)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LightGBM: objective='quantile', alpha=a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5166360"/>
            <a:ext cx="5760720" cy="1051560"/>
          </a:xfrm>
          <a:prstGeom prst="roundRect">
            <a:avLst>
              <a:gd name="adj" fmla="val 608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52943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수식이 말하는 건 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660136"/>
            <a:ext cx="5394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"α=0.9면 과소예측 벌점이 과대예측의 9배"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모델은 90%의 실제값이 자기 아래에 오는 높은 값을 내놓게 됨. 비대칭 벌점이 분위수를 만든다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0" y="1371600"/>
            <a:ext cx="525780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49961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문제엔 분포가 필요한가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1865376"/>
            <a:ext cx="48920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FICR은 계단 지표: '기대 오차 최소점'과 '기대 정산금 최대점'이 다르다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분포가 넓은 시간(불확실)엔 문턱 안에 넣을 확률 자체가 낮으니 결정이 달라져야 함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예측만 있으면 이런 계산이 불가능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분포가 있어야 '이 점을 내면 4원 구간에 들 확률'을 셈할 수 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4206240"/>
            <a:ext cx="5257800" cy="2011680"/>
          </a:xfrm>
          <a:prstGeom prst="roundRect">
            <a:avLst>
              <a:gd name="adj" fmla="val 318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3342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MAE와의 관계 (아는 것과 연결)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4700016"/>
            <a:ext cx="4892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α=0.5의 pinball loss = MAE의 절반 — 즉 MAE 회귀는 '중앙값 분위수 회귀'의 특수형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한 일은 그 특수형을 9개 α로 일반화한 것뿐 — 낯선 게 아니라 아는 것의 확장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5. [심화 3]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9-분위수 GBM — crossing 교정과 pmf 변환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분위수 GBM + 결정최적화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309360" cy="3017520"/>
          </a:xfrm>
          <a:prstGeom prst="roundRect">
            <a:avLst>
              <a:gd name="adj" fmla="val 2121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59436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decision_optimize.py 파이프라인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QUANTILES = [.05,.15,.25,.35,.5,.65,.75,.85,.95]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9개의 '독립' LightGBM (그룹별 x 9 = 27개 모델)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enforce_monotonic_quantiles(q_preds)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np.maximum.accumulate(q, axis=1)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독립 학습이라 q35 &gt; q50 같은 '교차' 발생 -&gt; 정렬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pmf, grid = quantiles_to_pmf(q, capacity, n_grid=101)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(0,0)과 (capacity,1)을 앵커로 조각선형 CDF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-&gt; 101점 격자에서 미분해 확률질량함수(pmf)로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4572000"/>
            <a:ext cx="6309360" cy="1554480"/>
          </a:xfrm>
          <a:prstGeom prst="roundRect">
            <a:avLst>
              <a:gd name="adj" fmla="val 4118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70001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코드가 말하는 건 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065776"/>
            <a:ext cx="5943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"9개 점(분위수)을 이어 그 시간의 발전량 확률분포를 근사 복원한다"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0과 설비용량 사이 1% 간격 격자 위의 이산 분포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교차(crossing) 교정은 독립 분위수 모델의 표준 후처리 — 정렬해도 각 행의 [min,max] 범위는 보존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1417320"/>
            <a:ext cx="470916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15453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선택들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1911096"/>
            <a:ext cx="43434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개별 모델 (g3의 짧은 학습기간·기종 차이 반영)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9개면 충분한가? → 19개(q19)로 늘려봤지만 실전 0.6274로 오히려 하락 — 해상도보다 견고함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0.6038 — 단일 모델 최강 트랙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3931920"/>
            <a:ext cx="4709160" cy="2194560"/>
          </a:xfrm>
          <a:prstGeom prst="roundRect">
            <a:avLst>
              <a:gd name="adj" fmla="val 291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78040" y="40599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GBM 분위수인가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4425696"/>
            <a:ext cx="4343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CPU만으로 27개 모델 학습 가능 (초기 GPU 부재 제약)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네이티브 처리 → 부분 커버리지 외부 NWP와 궁합 (Ch.6·7의 복선)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5. [심화 3]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기대효용 최대화 — 분포에서 'FICR 계단에 돈이 되는 점'을 고른다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분위수 GBM + 결정최적화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용어: 기대효용(expected utility) 최대화 = 각 후보 행동(예측값)에 대해 '결과별 이득 × 그 결과의 확률'의 합을 계산하고, 그 합이 최대인 행동을 고르는 결정이론의 기본 원리.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6309360" cy="2651760"/>
          </a:xfrm>
          <a:prstGeom prst="roundRect">
            <a:avLst>
              <a:gd name="adj" fmla="val 2414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84248"/>
            <a:ext cx="594360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expected_utility_grid_search (개념)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 in grid(0..capacity, 101점):   # 후보 예측값 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EU(d) = sum over pmf:            # 실제값 시나리오 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p(a) * [ 0.5*(1 - |d-a|/cap)     # NMAE 항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+ 0.5*ficr_rate(|d-a|/cap) ]  # 4/3/0원 계단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argmax EU(d)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4663440"/>
            <a:ext cx="6309360" cy="1463040"/>
          </a:xfrm>
          <a:prstGeom prst="roundRect">
            <a:avLst>
              <a:gd name="adj" fmla="val 437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79145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수식이 말하는 건 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157216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d를 냈을 때 벌 수 있는 공식 점수의 기댓값을, 분포의 모든 시나리오에 대해 셈해 보고 최고인 d를 낸다"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평균도 중앙값도 아닌, 지표 맞춤형 제3의 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874520"/>
            <a:ext cx="4709160" cy="2194560"/>
          </a:xfrm>
          <a:prstGeom prst="roundRect">
            <a:avLst>
              <a:gd name="adj" fmla="val 2917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2002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2368296"/>
            <a:ext cx="4343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0.6091 → 0.6126 (+0.0035)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단일 변경 최대급 도약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결정단계 파라미터 프로브: w_ficr 0.6 상향은 0.6277 무승부 — 기본값(0.5)이 이미 적정. n_grid 201은 대기열(#7)에만 있고 미검증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4297680"/>
            <a:ext cx="4709160" cy="1828800"/>
          </a:xfrm>
          <a:prstGeom prst="roundRect">
            <a:avLst>
              <a:gd name="adj" fmla="val 35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442569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한계 (docstring에 명시)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78040" y="4791456"/>
            <a:ext cx="4343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FICR의 분모는 전체 시간 합산이라 행별로 정확히 분해 안 됨 → 행 단위 '국소 근사'로 계산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'진짜 FICR 최적'이 아니라 '국소 선형화된 프록시의 최적' — 근사임을 알고 쓰는 것이 중요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5. [심화 3] 실패도 절반이다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미세개선의 미전이 — q19와 시드배깅이 가르쳐준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분위수 GBM + 결정최적화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11887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(vs 기준)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19-분위수 (q19)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+0.0013 (3그룹 일관 개선)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0.6274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기각 (기준 0.6280 미달)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시드배깅 3시드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+0.0012 (전그룹 flat~개선)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0.6295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기각 (당시 기준 소폭 하회)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전부결합 allcombo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+0.0026 (당일 CV 최고)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미세 +0.0003 — CV 기대에 못 미침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429000"/>
            <a:ext cx="6766560" cy="2697480"/>
          </a:xfrm>
          <a:prstGeom prst="roundRect">
            <a:avLst>
              <a:gd name="adj" fmla="val 237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55701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배우나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922776"/>
            <a:ext cx="64008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'방향이 일관된 CV +0.001대'조차 실전 전이가 안 될 수 있다.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CV와 리더보드는 표본이 다르고(OOF 5/6 vs Public 40%), 둘 다 노이즈가 있다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시드배깅 이론(분산 축소)은 옳지만, 이 문제의 병목은 분산이 아니라 예보 품질(편향) — 이론이 옳아도 병목이 아니면 점수가 안 오른다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이후 실험 판정 기준을 'CV 단독'에서 'CV는 방향 참고 + 최종 판정은 리더보드'로 격하 (Ch.6 프로브 체제)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43800" y="1463040"/>
            <a:ext cx="4160520" cy="4663440"/>
          </a:xfrm>
          <a:prstGeom prst="roundRect">
            <a:avLst>
              <a:gd name="adj" fmla="val 1538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26680" y="15910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사례와 대조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1956816"/>
            <a:ext cx="3794760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시기 ECMWF-g1은 CV +0.0038 → 실전 +0.0022로 전이 성공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차이: ECMWF는 '새 정보원'(신호 추가), q19·시드배깅은 '같은 정보의 재가공'(분산 축소)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경험칙: 새 정보 &gt; 재가공.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재가공류는 CV가 +0.001 나와도 실전 무승부~하락이 잦았다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8/13 gbmpair(피처셋 다른 GBM 2개 평균)도 -0.00004 무승부 — 모델 배깅류의 한계 재확인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5. [심화 3]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 트랙 — 단독으론 약하지만 '다름'으로 기여한다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분위수 GBM + 결정최적화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126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GBM 9분위수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그룹별 LightGBM×9 + 결정최적화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0.6038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양방향 seq2seq, 발표묶음 24h → 24h 동시 예측, 6시드 배깅, g3 mixup(두 학습 샘플을 섞는 증강)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0.5953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2층 인코더 + sinusoidal 위치인코딩(사인파로 순서 정보 주입), 시드 배깅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0.5963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520440"/>
            <a:ext cx="6126480" cy="2606040"/>
          </a:xfrm>
          <a:prstGeom prst="roundRect">
            <a:avLst>
              <a:gd name="adj" fmla="val 24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6484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더 약한 모델을 유지했나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014216"/>
            <a:ext cx="57607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블렌드(가중평균) 가치는 '점수'가 아니라 '오차 패턴의 다름'에서 나온다.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서로 다른 곳에서 틀리면 평균이 양쪽 실수를 상쇄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GBM 단독 0.6126 → 3-way 블렌드 0.6227 (+0.010) — NN 단독 점수보다 훨씬 큰 기여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seq2seq = 24시간을 한 번에 입력받아 24시간을 한 번에 출력 — 발표묶음 구조와 자연스럽게 일치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12280" y="1463040"/>
            <a:ext cx="489204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95160" y="159105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NN에도 같은 검증 규율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95160" y="1956816"/>
            <a:ext cx="45262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단위 = 발표묶음 → CV 폴드 경계와 정확히 일치 (리키지 없음)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Optuna 하이퍼튜닝 시도 → CV 노이즈, 미채택 — 'NN 튜닝'도 CV 미세최적화의 함정이었다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12280" y="4069080"/>
            <a:ext cx="4892040" cy="2057400"/>
          </a:xfrm>
          <a:prstGeom prst="roundRect">
            <a:avLst>
              <a:gd name="adj" fmla="val 3111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95160" y="419709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복선: NN의 약점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95160" y="4562856"/>
            <a:ext cx="45262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커버리지(대부분 NaN/상수) 피처에 트리는 강하고 NN은 약하다 — Ch.7의 'ECMWF 주입 붕괴' 사건에서 극적으로 드러남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 torch 부재(08-12 재설치 전까지)로 NN 재학습 불가 → 블렌드 내 NN 성분은 산술 조작으로만 유지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5. [심화 3] 실패도 절반이다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손실 설계 — 지표를 loss에 새기기 vs 후처리로 겨냥하기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분위수 GBM + 결정최적화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비대칭 손실 LightGBM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212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아이디어: 과소예측 편향이 진단됐으니 과소예측에 더 큰 벌점을 주는 커스텀 loss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무효.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분위수+결정단계가 이미 같은 효과(높은 분위수 선택 가능)를 더 원리적으로 흡수하고 있었다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96849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FICR-surrogate 손실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334256"/>
            <a:ext cx="5212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아이디어: 6%/8% 절벽을 매끄럽게 근사한 항을 학습 loss에 직접 추가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절벽항이 오히려 예측을 교란, 기각.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불연속 지표의 매끄러운 근사는 그래디언트가 문턱 근처에서 요동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대비가 주는 일반 교훈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'학습(loss)은 분포를 잘 배우는 데 집중, 지표 공략은 결정(후처리)에서'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학습과 결정의 분리(separation of estimation and decision)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손실을 지표에 맞춰 비틀면 모델의 기본기(분포 추정)까지 흔들린다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840480"/>
            <a:ext cx="544068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39684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질문 (자습용)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334256"/>
            <a:ext cx="5074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α=0.85 분위수 모델이 실제로 배우는 값을 pinball loss의 비대칭 비율로 설명해 보라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왜 '평균 예측'은 FICR에 최적이 아닌가? 분포가 넓은 시간과 좁은 시간을 예로 들어 보라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isotonic(단조 증가 제약의 유연한 곡선 보정) 같은 유연한 보정 대신 결정단계가 부린 것과 같은 효과는 무엇으로 얻었나?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[심화 4] CV와 리더보드의 괴리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믿을 수 없을 때, 검증의 신뢰도 자체를 판단하는 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커버리지에서 CV가 눈이 머는 메커니즘 — 훈련기간 75%가 결측인 피처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ECMWF 사건: CV g2 -0.0229 '해로움' 경고 → 실전 전그룹 신기록 0.6330 (+0.0028)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5제출 = 5실험: 프로브 운영 프로토콜과 ±0.001 노이즈 판정 규율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top3avg 사건(평균이 FICR을 깎는 이유)과 JMA를 정직하게 기각한 논리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6. [심화 4] 개념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CV는 왜 배신하는가 — 좋은 CV의 전제 조건들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CV vs 리더보드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CV의 약속: '검증 데이터가 실전 데이터와 같은 분포·같은 조건이면, CV 점수는 실전 점수의 좋은 추정치다.' 문제는 이 전제가 깨지는 경우가 실전엔 흔하다는 것.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86400" cy="1463040"/>
          </a:xfrm>
          <a:prstGeom prst="roundRect">
            <a:avLst>
              <a:gd name="adj" fmla="val 437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299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분포 이동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학습기간(2022~24)과 실전(2025)의 기상·설비 조건이 다름. 과거로 채점한 점수가 미래를 보장 못 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486400" cy="1463040"/>
          </a:xfrm>
          <a:prstGeom prst="roundRect">
            <a:avLst>
              <a:gd name="adj" fmla="val 437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299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커버리지 불일치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피처가 학습기간 일부만 커버하면, CV는 '피처가 없던 시절'까지 섞어 채점 — 실전(100% 커버)과 조건이 다름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5486400" cy="1463040"/>
          </a:xfrm>
          <a:prstGeom prst="roundRect">
            <a:avLst>
              <a:gd name="adj" fmla="val 437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노이즈 + 다중비교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CV는 ±0.002 수준의 차이를 가려낼 해상도가 없는데 실험 간 차이는 그 단위. 게다가 실험을 수십 번 하면 우연히 좋아 보이는 게 반드시 나옴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486400" cy="1463040"/>
          </a:xfrm>
          <a:prstGeom prst="roundRect">
            <a:avLst>
              <a:gd name="adj" fmla="val 437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자기 과적합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977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점수를 보며 하이퍼파라미터·가중치를 고르면, 그 선택 자체가 CV 노이즈에 과적합 — nested-LOFO(폴드 하나씩 빼며(leave-one-fold-out) 블렌드 가중치를 고르는 중첩 CV 탐색)의 패배 사례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5385816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프로젝트의 결론: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CV를 버리는 게 아니라, 'CV를 얼마나 믿을지'를 상황별로 판단하는 메타 규칙을 세웠다 — 전기간 커버 피처면 CV 신뢰, 부분 커버리지면 리더보드로 최종 판정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6. [심화 4]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커버리지에서 CV가 눈이 머는 메커니즘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CV vs 리더보드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학습기간 (2022-01 ~ 2024-12)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0525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(2025)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8138160" cy="502920"/>
          </a:xfrm>
          <a:prstGeom prst="rect">
            <a:avLst/>
          </a:prstGeom>
          <a:solidFill>
            <a:srgbClr val="BFDBF7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LDAPS/GFS — 전 기간 커버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052560" y="1645920"/>
            <a:ext cx="2468880" cy="502920"/>
          </a:xfrm>
          <a:prstGeom prst="rect">
            <a:avLst/>
          </a:prstGeom>
          <a:solidFill>
            <a:srgbClr val="BFDBF7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31720"/>
            <a:ext cx="6035040" cy="502920"/>
          </a:xfrm>
          <a:prstGeom prst="rect">
            <a:avLst/>
          </a:prstGeom>
          <a:solidFill>
            <a:srgbClr val="E9EDF0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ECMWF 없음 (NaN) — 학습기간의 ~75%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75120" y="2331720"/>
            <a:ext cx="2103120" cy="5029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2024-04+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2331720"/>
            <a:ext cx="2468880" cy="5029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test는 100% 커버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5577840" cy="3017520"/>
          </a:xfrm>
          <a:prstGeom prst="roundRect">
            <a:avLst>
              <a:gd name="adj" fmla="val 2121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2369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CV에서 무슨 일이 벌어지나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602736"/>
            <a:ext cx="52120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expanding-window 5폴드 중 앞쪽 폴드들은 학습·검증 모두 'ECMWF가 전부 NaN인 시절' — 이 폴드들은 새 피처를 평가조차 못 함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커버되는 건 마지막 1~2개 폴드뿐 → 유효 표본 급감, 노이즈 급증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게다가 커버 폴드에서도 '75%가 결측이었던 피처로 학습된 모델'을 채점 — 실전(100% 커버로 추론)과 조건이 다름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상황의 CV 하락은 '피처가 나쁘다'가 아니라 '측정이 불가능하다'로 읽어야 한다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108960"/>
            <a:ext cx="5440680" cy="3017520"/>
          </a:xfrm>
          <a:prstGeom prst="roundRect">
            <a:avLst>
              <a:gd name="adj" fmla="val 2121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2369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세운 '부분 커버리지 룰'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602736"/>
            <a:ext cx="50749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기간 커버 피처 → CV를 신뢰하고 CV로 기각 가능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(JMA가 이 경우)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커버리지 피처 → CV 기각을 믿지 않는다.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명확한 파국(전그룹 -0.01 이상)만 아니면 프로브를 만들어 리더보드로 최종 판정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슬롯이 곧 실험 예산 — '불확실한 방향'에만 슬롯을 쓰고, CV로 확실한 것(파국·전기간 커버 중립)엔 안 쓴다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6. [심화 4]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ECMWF 사건 — CV의 '-0.0229 경고'가 실전에서 '+0.0028 신기록'으로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CV vs 리더보드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CV가 말한 것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리더보드가 말한 것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ECMWF 전그룹 (08-07)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-0.0020, g2 커버구간 -0.0229 '해로움'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(프로브는 08-07 생성 완료, 제출 슬롯 사정으로 08-11로 밀림)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ECMWF g1만 (08-07)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g1 +0.0038 (커버 OOF)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0.6302 신기록 (+0.0022)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ECMWF 전그룹 제출 (08-11)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 여전히 악화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0.6330 신기록 (+0.0028) — CV 역전!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g3 ECMWF 제외 (08-12)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g3는 CV 중립(-0.0006)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0.63065 (-0.0025) → g3 기여 실전 확정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794760"/>
            <a:ext cx="7315200" cy="2331720"/>
          </a:xfrm>
          <a:prstGeom prst="roundRect">
            <a:avLst>
              <a:gd name="adj" fmla="val 274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92277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사건이 확정해 준 것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288536"/>
            <a:ext cx="69494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원신호는 처음부터 강했다: ecmwf_ws100-target 상관 0.773 &gt; LDAPS 0.744 — '신호는 강한데 CV만 나쁘다'는 조합이 부분커버리지 룰의 전형적 발동 조건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CV의 g2 경고는 측정 한계였지 진실이 아니었다.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커버 100%인 실전에선 g2·g3 모두 순기여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스왑 비교(08-12 프로브 F=ECMWF 전그룹+g2 재료 vs G=g3만 ECMWF 제외)로 g3-ECMWF 단독 기여 +0.0025까지 분리 측정 — 리더보드를 '측정 장비'로 쓴 대표 사례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1463040"/>
            <a:ext cx="3611880" cy="4663440"/>
          </a:xfrm>
          <a:prstGeom prst="roundRect">
            <a:avLst>
              <a:gd name="adj" fmla="val 177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75320" y="15910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타산지석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75320" y="1956816"/>
            <a:ext cx="3246120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CV만 믿었다면 최종 점수의 마지막 +0.005는 통째로 없었다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CV를 아예 안 믿었다면 ICON(-0.0023)·JMA 같은 나쁜 재료에 제출 슬롯을 낭비했을 것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'언제 믿고 언제 의심할지'의 조건부 규칙이 진짜 실력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6. [심화 4] 우리 프로젝트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5제출 = 5실험 — 프로브 운영 프로토콜과 판정 규율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CV vs 리더보드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76072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사이클 (reports/experiment_queue.md)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3949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대기열 상위 5개로 후보 CSV 생성 — 각 후보에 '무엇을 검증하는가' 한 줄과 예상 결과 명시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DACON 제출, 점수 수집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장부 기록 → 이긴 방향은 후속 실험 파생, 진 방향은 폐기 → 다음 날 대기열 갱신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안전망: 리더보드 '제출선택'은 항상 현재 최고 기록 유지 — 프로브가 넘어설 때만 교체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206240"/>
            <a:ext cx="5760720" cy="1920240"/>
          </a:xfrm>
          <a:prstGeom prst="roundRect">
            <a:avLst>
              <a:gd name="adj" fmla="val 33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3342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1후보 1변수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700016"/>
            <a:ext cx="5394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하나당 바꾸는 건 딱 하나 — 결과의 원인을 귀속할 수 있게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08-13 배치 = 강도 0.45 / GBM쌍 / g3가중 0.45 / g3가중 0.40 / top3평균 — 서로 직교하는 5개 질문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525780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54533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판정 규율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1911096"/>
            <a:ext cx="48920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±0.001은 무승부로 기록, 억지 해석 금지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장부에 △로 남기고 '조합 재료'로만 보관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비단조면 노이즈: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g3 가중 0.35→0.40→0.45가 0.63325→0.63306→0.63318로 오르내림 → '곡선'이 아니라 노이즈로 판정, 0.35 유지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Public도 40% 표본일 뿐 — 동률(±0.0002)이면 CV 근거가 탄탄한 쪽 선호 (Private 역전 대비)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4206240"/>
            <a:ext cx="5257800" cy="1920240"/>
          </a:xfrm>
          <a:prstGeom prst="roundRect">
            <a:avLst>
              <a:gd name="adj" fmla="val 33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43342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4700016"/>
            <a:ext cx="4892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횟수 제한은 '평가 예산'이라는 자원 — A/B 테스트 예산 배분 문제와 동형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장부(무엇을·왜·결과·판정)를 남기는 습관이 이 체제 전체의 기반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6. [심화 4] 사건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top3avg 사건 — 평균(스무딩)이 FICR을 깎는 이유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CV vs 리더보드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배경: 근접 동률 3개 — b35(GBM 가중 0.35+half 재보정) 0.63325 / F(ECMWF 전그룹+g2 재료) 0.63310 / H(g3 물리) 0.63315 — 를 행별 평균, '분산 축소'라는 고전적 마무리 수. 캐글이면 정석인데…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33832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0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0.6310315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2742286"/>
            <a:ext cx="3346704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top3avg 총점 — 기준 b35(0.63325) 대비 -0.0022 명확 악화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011680"/>
            <a:ext cx="33832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1-NMAE 0.86428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61688" y="2742286"/>
            <a:ext cx="3346704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오차는 거의 무사 (s045=강도 0.45 프로브의 0.86442 대비)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1920240"/>
            <a:ext cx="3703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011680"/>
            <a:ext cx="3520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0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 0.39778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10728" y="2742286"/>
            <a:ext cx="3483864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s045의 0.40217에서 붕괴 (-0.0044)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6035040" cy="2514600"/>
          </a:xfrm>
          <a:prstGeom prst="roundRect">
            <a:avLst>
              <a:gd name="adj" fmla="val 254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73989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 — 계단 지표에서 평균의 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105656"/>
            <a:ext cx="566928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예측이 조금씩 다른 시간대에서, 평균은 각 예측을 '가운데'로 뭉갬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NMAE(선형 지표)는 뭉개도 평균 오차가 비슷하니 무사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FICR은 시간별로 6%/8% 문턱 안이냐 밖이냐가 전부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문턱 안에 있던 예측이 평균 때문에 살짝 밀려나는 시간이 늘면, 그 시간들의 단가가 4→3→0원으로 계단째 추락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3611880"/>
            <a:ext cx="4983480" cy="2514600"/>
          </a:xfrm>
          <a:prstGeom prst="roundRect">
            <a:avLst>
              <a:gd name="adj" fmla="val 254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373989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4105656"/>
            <a:ext cx="461772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"FICR은 뾰족한(확신 있는) 예측을 보상한다"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총점 동률이어도 NMAE/FICR 분해는 다를 수 있으니 반드시 분해해서 읽어라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일반화: 지표가 불연속이면 '앙상블 평균=안전'이라는 통념이 깨진다. 지표 구조가 앙상블 전략까지 바꾼다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판정으로 8/14 최종 배치에서 스무딩류를 전부 배제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6. [심화 4] 사건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JMA 기각 — '룰을 안 쓰는 것'도 룰을 지키는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CV vs 리더보드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76072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(08-13 밤, 마감 직전)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3949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NWP 4종 조사: UKMO 미아카이브 / BOM test기간 구멍 / CMA·GEM 2024-03+ / JMA GSM만 유일하게 2022+ 전 기간 커버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JMA 백필 100% 완료, 9피처 추가, 재학습까지 완료 (run 20260813_205812)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결과: 종합 -0.0003 중립, g1 -0.0033 명확 악화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206240"/>
            <a:ext cx="5760720" cy="1920240"/>
          </a:xfrm>
          <a:prstGeom prst="roundRect">
            <a:avLst>
              <a:gd name="adj" fmla="val 33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3342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700016"/>
            <a:ext cx="5394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JMA는 전 기간 커버 → CV를 신뢰해야 하는 경우 → 부분커버리지 룰 미적용 → CV 중립이면 제출 슬롯 낭비 → 프로브 제외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날 GEM(부분 커버, g3 CV +0.0038)은 룰 적용 대상이라 프로브 2슬롯 배정 — 동일 기준의 상반된 결론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453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이게 '정직'인가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11096"/>
            <a:ext cx="5074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ECMWF 성공 직후라 'CV 나쁜 NWP도 실전에선 통하더라'는 서사에 취하기 쉬운 시점이었음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룰의 근거는 '부분 커버리지가 CV를 눈멀게 한다'였지 'NWP는 CV를 무시해도 된다'가 아니었다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기간 커버인 JMA에서 CV를 무시하면 룰이 아니라 소망적 사고가 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4206240"/>
            <a:ext cx="5440680" cy="1920240"/>
          </a:xfrm>
          <a:prstGeom prst="roundRect">
            <a:avLst>
              <a:gd name="adj" fmla="val 33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334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700016"/>
            <a:ext cx="5074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'적용 조건'까지가 규칙이다 — 성공 경험이 조건을 지우게 두지 말 것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매몰비용 무시: 백필·재학습까지 끝냈어도 기각은 기각 (작업량은 판정 근거가 아니다)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6. [심화 4] 교훈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4 정리 — 검증의 신뢰도를 검증하라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CV vs 리더보드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11880" cy="2743200"/>
          </a:xfrm>
          <a:prstGeom prst="roundRect">
            <a:avLst>
              <a:gd name="adj" fmla="val 23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8470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CV의 전제를 점검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커버리지·분포·표본 수가 실전과 같은가? 다르면 CV 숫자가 아니라 '조건 차이'부터 해석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611880" cy="2743200"/>
          </a:xfrm>
          <a:prstGeom prst="roundRect">
            <a:avLst>
              <a:gd name="adj" fmla="val 23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18470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규칙을 사전에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±0.001 무승부, 비단조=노이즈, 파국 기준(-0.01 전그룹) — 결과를 보기 전에 정한 기준만이 정직할 수 있다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1554480"/>
            <a:ext cx="3611880" cy="2743200"/>
          </a:xfrm>
          <a:prstGeom prst="roundRect">
            <a:avLst>
              <a:gd name="adj" fmla="val 23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783080"/>
            <a:ext cx="502920" cy="502920"/>
          </a:xfrm>
          <a:prstGeom prst="ellipse">
            <a:avLst/>
          </a:prstGeom>
          <a:solidFill>
            <a:srgbClr val="2FA37C"/>
          </a:solidFill>
          <a:ln w="12700">
            <a:solidFill>
              <a:srgbClr val="2FA3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18470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예산 관리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104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5회/일 = 실험 5회. '불확실한 것'에만 쓰고, CV로 확정 가능한 것(전기간 커버·파국)엔 안 쓴다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526280"/>
            <a:ext cx="11201400" cy="1600200"/>
          </a:xfrm>
          <a:prstGeom prst="roundRect">
            <a:avLst>
              <a:gd name="adj" fmla="val 40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654296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질문 (자습용)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020056"/>
            <a:ext cx="10835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ECMWF 전그룹의 CV g2 -0.0229를 '피처가 나쁘다'로 읽으면 안 되는 이유를 커버리지 구조로 설명해 보라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top3avg에서 1-NMAE는 유지되고 FICR만 무너진 이유를 두 지표의 수학적 성질(선형 vs 계단) 차이로 설명해 보라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JMA와 GEM은 같은 날 조사된 신규 NWP인데 왜 정반대 취급을 받았나?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앙상블과 재보정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상승의 실제 원천 — 그리고 '자유도가 적을수록 이긴다'는 발견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3-way 고정 블렌드 0.6227 — CV 최적화 가중치(nested-LOFO)는 고정 균등에 졌다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배수 재보정: 과소예측 편향을 그룹당 숫자 1개로 교정, half 강도가 최적 (+0.0053)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없이 프로브를 만드는 스왑 산술 — NN 성분 역산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NN-ECMWF 주입 붕괴: 트리와 신경망의 결측 내성 차이가 극적으로 드러난 사건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7. 앙상블과 재보정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블렌드 — CV로 고른 가중치가 고정 균등 가중치에 졌다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앙상블과 재보정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용어: 블렌드(blend) = 여러 모델의 예측을 가중평균해 최종 예측을 만드는 가장 단순한 앙상블. 가중치를 어떻게 정하느냐가 유일한 설계 변수다.</a:t>
            </a:r>
            <a:endParaRPr lang="en-US" sz="11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6309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결정 방식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nested-LOFO (폴드별 leave-one-fold-out CV 최적화로 탐색)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0.6172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균등 v14: LSTM 0.35 / Trans 0.35 / GBM 0.30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0.6227 (+0.0055)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신경망-heavy (gbm20)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0.6214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ECMWF로 GBM이 강해진 후 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GBM 0.35 (재료 강화 반영 상향)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A3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0.63325 신기록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GBM 0.40 (더 상향)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0.63254 → 피크 = 0.35 확정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086600" y="1874520"/>
            <a:ext cx="4617720" cy="2377440"/>
          </a:xfrm>
          <a:prstGeom prst="roundRect">
            <a:avLst>
              <a:gd name="adj" fmla="val 269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69480" y="20025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CV 최적 가중치가 졌나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69480" y="2368296"/>
            <a:ext cx="4251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탐색 = OOF 점수에 대한 최적화 → OOF의 노이즈까지 학습(과적합)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자유도 3개(가중치)조차 과적합했다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2만 행 OOF에서 ±0.002 노이즈로 고른 가중치는 실전에서 의미 없음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86600" y="4434840"/>
            <a:ext cx="4617720" cy="1691640"/>
          </a:xfrm>
          <a:prstGeom prst="roundRect">
            <a:avLst>
              <a:gd name="adj" fmla="val 378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269480" y="456285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조건이 바뀌면 다시 측정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69480" y="4928616"/>
            <a:ext cx="4251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ECMWF로 GBM 트랙이 강해지자 0.30→0.35 상향이 실전 개선 — '고정'도 도그마가 아니라 재료 변화 시 리더보드로 재측정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7. 앙상블과 재보정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배수 재보정 — 그룹당 숫자 1개로 편향을 고치는 게 최선이었다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앙상블과 재보정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50292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src/ensembling/recalibrate.py (개념)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= OOF에서 그룹별 최적 배수 탐색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 = 1 + strength * (full - 1)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pred_final = pred * applied   # 이후 clip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half(0.5): g1 1.06 / g2 1.03 / g3 1.0575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5112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수식이 말하는 건 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87705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"OOF가 시키는 보정(full)을 절반만 믿는다"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strength가 0이면 무보정, 1이면 OOF 최적을 그대로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70916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48371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half가 이기나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202936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OOF는 4/5 데이터 모델의 예측 — 실전 full-refit 모델보다 약해서 편향을 과대추정 → 절반 수축이 맞았다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배수(계절 분해, 0.6252)·g3만 상향(0.6271)도 전부 패배 — 쪼갤수록 과적합</a:t>
            </a:r>
            <a:endParaRPr lang="en-US" sz="10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172200" y="1417320"/>
          <a:ext cx="5532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172200" y="4663440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479145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isotonic과의 대조 — 자유도의 법칙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5157216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 g2 isotonic(유연한 곡선 보정)은 실패, 1-파라미터 배수는 전 그룹 성공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"자유도가 적을수록 실전 전이가 잘 된다"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마지막 날 강도 0.45가 +0.00005로 명목 신기록(0.6332991), 피크는 0.5 부근 평탄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7. 앙상블과 재보정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스왑 산술 — 재학습 없이 제출 CSV만으로 실험을 만드는 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앙상블과 재보정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760720" cy="2011680"/>
          </a:xfrm>
          <a:prstGeom prst="roundRect">
            <a:avLst>
              <a:gd name="adj" fmla="val 3182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453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394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후반부 conda 삭제 + torch 부재 → LSTM/Transformer 재학습 불가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블렌드가 선형 결합임을 이용하면 기존 제출 CSV에서 성분을 대수적으로 복원 가능 — b35=최고 제출(GBM 0.35+half 재보정), gbmE=그 GBM 성분, nnbar=LSTM·Transformer 평균 성분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5760720" cy="1691640"/>
          </a:xfrm>
          <a:prstGeom prst="roundRect">
            <a:avLst>
              <a:gd name="adj" fmla="val 3784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75888"/>
            <a:ext cx="53949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최고 제출 b35 = mult * (0.35*gbmE + 0.65*nnbar)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NN 평균 성분 역산: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nnbar = (b35/mult - 0.35*gbmE) / 0.65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자기검증: b35 재조립 최대오차 0.000000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5394960"/>
            <a:ext cx="5760720" cy="777240"/>
          </a:xfrm>
          <a:prstGeom prst="roundRect">
            <a:avLst>
              <a:gd name="adj" fmla="val 823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55229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수식이 말하는 건 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888736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"완성 케이크에서 레시피(가중치·배수)를 알면 재료를 역산할 수 있다"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0" y="1417320"/>
            <a:ext cx="5257800" cy="2651760"/>
          </a:xfrm>
          <a:prstGeom prst="roundRect">
            <a:avLst>
              <a:gd name="adj" fmla="val 2414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54533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가능해졌나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1911096"/>
            <a:ext cx="48920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복원한 nnbar에 새 GBM(다른 피처셋·시드)을 갈아끼우거나 가중치·재보정 강도만 바꾼 프로브를 몇 분 만에 생산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8/13~14 최종 배치 10개 프로브가 이 방식 — 단 8/14 GEM 2개는 GBM 재학습 필요(NN 성분만 산술 재활용)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주의도 기록: 클립된 17행은 체인 역산이 오염됨 → 실측 검증된 b35 기준으로 통일하고 폴백 처리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420624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3342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자습 포인트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4700016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파이프라인을 선형 연산의 합성으로 설계해 두면 '예측 = 재현 가능한 대수'가 된다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자기검증(재조립 오차 0 확인)을 먼저 통과시킨 뒤에만 변형 — 산술 실험에도 단위테스트 정신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7. 앙상블과 재보정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NN-ECMWF 주입 붕괴 — 트리와 신경망의 결측 내성 차이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앙상블과 재보정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동기: 최고 블렌드에서 ECMWF는 GBM(35%)만 보고 NN(65%)은 못 본다 — 이 비대칭을 풀면 상방이 있지 않을까? torch 재설치까지 하며 시도했다.</a:t>
            </a:r>
            <a:endParaRPr lang="en-US" sz="11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6126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(+ECMWF 11피처+지시자)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overall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0.5648 (-0.0305)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3그룹 전부 붕괴, 최대 g2 -0.0414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50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0.5862 (-0.0101)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3그룹 모두 저하 (-0.003~-0.019)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429000"/>
            <a:ext cx="6126480" cy="2697480"/>
          </a:xfrm>
          <a:prstGeom prst="roundRect">
            <a:avLst>
              <a:gd name="adj" fmla="val 237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35570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(버그가 아니었다)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922776"/>
            <a:ext cx="576072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예측 자체는 정상 범위(NaN 없음) → 코드 버그가 아니라 실제 성능 저하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훈련기간 ~75%가 ECMWF 결측 → 초기 폴드에선 11피처+지시자가 사실상 상수 0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GBM은 무용한 피처를 분기에서 그냥 무시하지만, 소형 NN(hidden 64, 1층)은 이 희소/거의-상수 입력에 용량을 뺏겨 기존 신호 학습까지 저하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 재튜닝 없이 입력만 늘린 것도 악화 요인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12280" y="1874520"/>
            <a:ext cx="4892040" cy="2286000"/>
          </a:xfrm>
          <a:prstGeom prst="roundRect">
            <a:avLst>
              <a:gd name="adj" fmla="val 280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95160" y="200253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 결정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95160" y="2368296"/>
            <a:ext cx="45262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사전에 정한 파국 기준(전그룹 -0.01 이상 붕괴) 충족 → 블렌드 프로브 미생성, 제출 슬롯 미사용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'CV로 명백히 나쁜 것'에 리더보드 슬롯을 쓰는 건 부분커버리지 룰의 취지(불확실을 해상)에 어긋남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12280" y="4343400"/>
            <a:ext cx="4892040" cy="1783080"/>
          </a:xfrm>
          <a:prstGeom prst="roundRect">
            <a:avLst>
              <a:gd name="adj" fmla="val 359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95160" y="447141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교훈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95160" y="4837176"/>
            <a:ext cx="4526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 vs NN의 결측/희소 피처 내성 차이는 교과서 문장이 아니라 -0.03의 실측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피처도 모델 아키텍처에 따라 약/독 — 피처 채택은 모델별로 판단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결과와 교훈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점수의 여정, 실패의 목록, 그리고 ML 일반론으로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최종: 0.6332991 (1-NMAE 0.86442 / FICR 0.40217) — 시작 대비 +0.0242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도약 4개가 개선의 대부분 — 분위수+결정, 블렌드, half 재보정, ECMWF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15여 건의 목록과 각각이 남긴 교훈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설계 &gt; 모델, 자유도 ↓ = 전이 ↑, 지표 구조를 직접 공략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8. 최종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여정 전체 — 채택의 계단과 그 아래의 기각들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최종 결과와 교훈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173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417320"/>
            <a:ext cx="4023360" cy="4663440"/>
          </a:xfrm>
          <a:prstGeom prst="roundRect">
            <a:avLst>
              <a:gd name="adj" fmla="val 1591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1545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도약의 해부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1911096"/>
            <a:ext cx="3657600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+0.0035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분위수+결정최적화 (지표 구조 공략)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+0.0055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3-way 고정 블렌드 (다양성)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+0.0053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half 배수 재보정 (편향 교정)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+0.0022/+0.0028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ECMWF g1/전그룹 (새 정보원)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~+0.019 = 총 개선 +0.0242의 대부분. 나머지는 +0.0001 단위 프로브 수확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성격이 전부 다르다: 결정이론 / 앙상블 / 보정 / 데이터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우물이 아니라 네 개의 다른 지렛대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8. 최종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제출의 구성 — 무엇이 쌓여 0.6333이 됐나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최종 결과와 교훈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309360" cy="2514600"/>
          </a:xfrm>
          <a:prstGeom prst="roundRect">
            <a:avLst>
              <a:gd name="adj" fmla="val 2545"/>
            </a:avLst>
          </a:prstGeom>
          <a:solidFill>
            <a:srgbClr val="102A33"/>
          </a:solidFill>
          <a:ln w="12700">
            <a:solidFill>
              <a:srgbClr val="1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594360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최종 챔피언 (probe_strength045, 0.6332991)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clip( mult_045 * 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0.35 * GBM_quantile_decision   # ECMWF 전그룹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+ 0.325 * LSTM_seq2seq           # 6시드 배깅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+ 0.325 * Transformer_seq2seq )  # 시드 배깅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, 0, capacity*1.01)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mult_045 = 1 + 0.45*(full-1)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= g1 1.054 / g2 1.027 / g3 1.05175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6309360" cy="2057400"/>
          </a:xfrm>
          <a:prstGeom prst="roundRect">
            <a:avLst>
              <a:gd name="adj" fmla="val 3111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1970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최종일(08-14) 마지막 5슬롯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562856"/>
            <a:ext cx="59436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strength 0.40 / s045+gbmpair / s045+g3w45 / GEM 전그룹 / GEM g3-한정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 NWP GEM은 ECMWF 패턴(부분커버 CV 경고 → 실전 베팅)의 마지막 재판 — 부분커버리지 룰을 끝까지 일관 적용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제출선택 규칙: 마감 직전 최고점, 동률이면 CV 근거 탄탄한 쪽 (Private 60% 대비)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1417320"/>
            <a:ext cx="4617720" cy="2514600"/>
          </a:xfrm>
          <a:prstGeom prst="roundRect">
            <a:avLst>
              <a:gd name="adj" fmla="val 2545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9480" y="15453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점수 분해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1911096"/>
            <a:ext cx="425196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총점 0.6332991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1-NMAE 0.86442 (평균 오차율 ~13.6%)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 0.40217 (이론상 최대의 40%)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시작점(0.6091)의 리더보드 분해는 미기록 — OOF 진단(0.857/0.294)과 견주면 FICR 쪽 개선 폭이 컸다고 추정 (계단 공략의 방향과 일치)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4069080"/>
            <a:ext cx="4617720" cy="2057400"/>
          </a:xfrm>
          <a:prstGeom prst="roundRect">
            <a:avLst>
              <a:gd name="adj" fmla="val 3111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419709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천장과의 화해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4562856"/>
            <a:ext cx="42519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분석대로 예보 품질이 한계 — 그 안에서 결정·보정·새 정보원으로 짜낼 수 있는 것을 짜냈다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상위권과의 잔여 갭은 더 나은 예보(비공개 상용 NWP 등) 없인 못 넘는 영역으로 추정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8. 최종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전체 목록 — 이 프로젝트 학습 가치의 절반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최종 결과와 교훈</a:t>
            </a:r>
            <a:endParaRPr lang="en-US" sz="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56235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4747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/ 배운 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nested-LOFO 블렌드 가중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0.6172 &lt; 고정 균등 — CV 최적화의 과적합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isotonic 보정 (g2)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— 유연한 보정은 폴드 노이즈에 과적합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배수 재보정 full / g3fix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0.6205 / 0.6271 — OOF는 편향을 과대추정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재보정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0.6252 — 계절 분해도 과적합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재보정 강도 0.6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0.6266 — 피크는 0.5 부근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q19 분위수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0.6274 — 해상도↑가 실전 개선 아님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시드배깅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0.6295 — 분산 축소는 병목이 아니었다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w_ficr 0.6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0.6277 무승부 — 기본값이 이미 적정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71600"/>
          <a:ext cx="5349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/ 배운 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A·물리 피처 전면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노이즈 — 신호 천장 도달의 증거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석포 AWS 외부 실측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 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NN Optuna 재튜닝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노이즈 — 튜닝도 미세최적화 함정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비대칭 손실 / FICR-surrogate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무효/기각 — 학습과 결정의 분리가 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 g1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-0.0023 기각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JMA 전그룹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중립 기각 (룰 미적용 대상)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NN-ECMWF 주입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 -0.0305 붕괴 — NN의 결측 취약성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top3avg 스무딩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-0.0022 — 계단 지표에서 평균의 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g3 가중 0.40/0.45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비단조 — 노이즈 판정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029200"/>
            <a:ext cx="11201400" cy="1097280"/>
          </a:xfrm>
          <a:prstGeom prst="roundRect">
            <a:avLst>
              <a:gd name="adj" fmla="val 5833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85800" y="5157216"/>
            <a:ext cx="10835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보이는가 — 실패의 8할은 '같은 정보를 더 정교하게 쓰려는 시도'(튜닝·분해·해상도·유연 보정)였고, 성공의 8할은 '문제 구조를 바꾸는 시도'(분포 예측, 결정이론, 새 데이터, 단순 보정)였다.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8. 교훈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일반론으로의 승화 — 이 대회가 가르쳐준 다섯 문장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최종 결과와 교훈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설계가 모델보다 중요하다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89320" y="1371600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발표묶음 CV·리키지 산술·격리 검증이 없었다면 어떤 점수도 믿을 수 없었다. 모델은 바꿔도 검증 체계는 처음부터 끝까지 하나였다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4086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자유도가 적을수록 실전 전이가 잘 된다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89320" y="2340864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1-파라미터 배수 &gt; isotonic, 고정 가중 &gt; CV 최적 가중, 연 1개 배수 &gt; 월 12개 배수. 데이터가 적고 노이즈가 클수록 이 법칙은 강해진다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101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구조를 직접 공략하라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89320" y="3310128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 계단 → 분포 예측 + 기대효용 결정(+0.0035). 그리고 같은 이유로 스무딩은 독(top3avg -0.0022). 지표를 읽는 힘이 곧 전략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27939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트리와 NN은 데이터 결함 내성이 다르다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89320" y="4279392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75% 피처: GBM은 무시하고 수확(+0.0028), NN은 붕괴(-0.0305). 아키텍처 선택은 '데이터의 결함 구조'까지 보고 하는 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321808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5248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신호가 소진되면 데이터를 바꿔라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989320" y="5248656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분석 → 피처 미세조정 중단 → 외부 NWP 백필 → 마지막 큰 도약. '더 나은 모델'보다 '더 나은 입력'이 답인 시점을 아는 것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8. 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공부할 주제 — 이 프로젝트에서 뻗어 나가는 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최종 결과와 교훈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1444752"/>
          </a:xfrm>
          <a:prstGeom prst="roundRect">
            <a:avLst>
              <a:gd name="adj" fmla="val 443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27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 예측의 정석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pinball loss를 일반화한 CRPS(연속 순위 확률 점수), NGBoost·quantile forest. 우리가 9-분위수로 손수 만든 것의 이론적 본가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1444752"/>
          </a:xfrm>
          <a:prstGeom prst="roundRect">
            <a:avLst>
              <a:gd name="adj" fmla="val 443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527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 Prediction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 가정 없이 '보장된 커버리지'의 예측구간을 만드는 방법론. 우리 분위수 구간의 실제 커버리지를 사후 검증·교정하는 도구가 된다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90088"/>
            <a:ext cx="5486400" cy="1444752"/>
          </a:xfrm>
          <a:prstGeom prst="roundRect">
            <a:avLst>
              <a:gd name="adj" fmla="val 443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099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결정이론과 비용민감 학습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44728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기대효용 최대화의 일반형(Bayes decision theory), 비대칭 비용 하의 최적 예측점. 우리 decision_optimize의 교과서 버전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990088"/>
            <a:ext cx="5486400" cy="1444752"/>
          </a:xfrm>
          <a:prstGeom prst="roundRect">
            <a:avLst>
              <a:gd name="adj" fmla="val 443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099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NWP 앙상블·후처리 문헌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344728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EMOS, 앙상블 model output statistics, analog ensemble — 기상 분야가 수십 년 쌓은 '예보 보정'의 정석. 우리 QM·배수 재보정의 조상들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562856"/>
            <a:ext cx="5486400" cy="1444752"/>
          </a:xfrm>
          <a:prstGeom prst="roundRect">
            <a:avLst>
              <a:gd name="adj" fmla="val 443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6725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검증 방법론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02005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purged/embargoed CV (금융), nested CV — 발표묶음 분할의 형제들. '왜 이 분할이냐'를 이론으로 뒷받침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562856"/>
            <a:ext cx="5486400" cy="1444752"/>
          </a:xfrm>
          <a:prstGeom prst="roundRect">
            <a:avLst>
              <a:gd name="adj" fmla="val 4430"/>
            </a:avLst>
          </a:prstGeom>
          <a:solidFill>
            <a:srgbClr val="EDF4F8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B0BC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46725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앙상블 이론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502005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다양성이 점수보다 중요한가 (bias-variance-covariance 분해), stacking vs blending, 그리고 불연속 지표에서의 앙상블 주의점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0.6091 → 0.6332991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숫자보다 남은 것: 검증을 설계하는 눈, 실패를 판정하는 규율, 지표를 읽는 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자료의 모든 수치는 reports/experiment_queue.md(실험 장부)와 git log에서 인용 — 지어낸 숫자 없음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4개의 뒤에 기각 15여 건 — 실패의 원인 분석이 다음 성공의 설계도였다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경로: 심화 1(검증) → 심화 3(모델) → 심화 4(괴리) 순서로 다시 읽고, 각 챕터의 확인 질문에 스스로 답해 볼 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BARAM 2026 · 자습용 심화 복기 노트 · 2026-08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2026-08-15T07:05:14Z</dcterms:created>
  <dcterms:modified xsi:type="dcterms:W3CDTF">2026-08-15T07:05:14Z</dcterms:modified>
</cp:coreProperties>
</file>